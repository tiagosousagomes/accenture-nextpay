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rimo Bold" charset="1" panose="020B0704020202020204"/>
      <p:regular r:id="rId32"/>
    </p:embeddedFont>
    <p:embeddedFont>
      <p:font typeface="Roboto Bold" charset="1" panose="02000000000000000000"/>
      <p:regular r:id="rId34"/>
    </p:embeddedFont>
    <p:embeddedFont>
      <p:font typeface="PT Serif" charset="1" panose="020A0603040505020204"/>
      <p:regular r:id="rId35"/>
    </p:embeddedFont>
    <p:embeddedFont>
      <p:font typeface="Inter" charset="1" panose="02000503000000020004"/>
      <p:regular r:id="rId38"/>
    </p:embeddedFont>
    <p:embeddedFont>
      <p:font typeface="Inter Bold" charset="1" panose="02000503000000020004"/>
      <p:regular r:id="rId39"/>
    </p:embeddedFont>
    <p:embeddedFont>
      <p:font typeface="Arimo" charset="1" panose="020B0604020202020204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notesMasters/notesMaster1.xml" Type="http://schemas.openxmlformats.org/officeDocument/2006/relationships/notesMaster"/><Relationship Id="rId3" Target="viewProps.xml" Type="http://schemas.openxmlformats.org/officeDocument/2006/relationships/viewProps"/><Relationship Id="rId30" Target="theme/theme2.xml" Type="http://schemas.openxmlformats.org/officeDocument/2006/relationships/theme"/><Relationship Id="rId31" Target="notesSlides/notesSlide1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2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5.xml" Type="http://schemas.openxmlformats.org/officeDocument/2006/relationships/notesSlide"/><Relationship Id="rId41" Target="notesSlides/notesSlide6.xml" Type="http://schemas.openxmlformats.org/officeDocument/2006/relationships/notesSlide"/><Relationship Id="rId42" Target="notesSlides/notesSlide7.xml" Type="http://schemas.openxmlformats.org/officeDocument/2006/relationships/notesSlide"/><Relationship Id="rId43" Target="notesSlides/notesSlide8.xml" Type="http://schemas.openxmlformats.org/officeDocument/2006/relationships/notesSlide"/><Relationship Id="rId44" Target="notesSlides/notesSlide9.xml" Type="http://schemas.openxmlformats.org/officeDocument/2006/relationships/notesSlide"/><Relationship Id="rId45" Target="notesSlides/notesSlide10.xml" Type="http://schemas.openxmlformats.org/officeDocument/2006/relationships/notesSlide"/><Relationship Id="rId46" Target="notesSlides/notesSlide11.xml" Type="http://schemas.openxmlformats.org/officeDocument/2006/relationships/notesSlide"/><Relationship Id="rId47" Target="notesSlides/notesSlide12.xml" Type="http://schemas.openxmlformats.org/officeDocument/2006/relationships/notesSlide"/><Relationship Id="rId48" Target="notesSlides/notesSlide13.xml" Type="http://schemas.openxmlformats.org/officeDocument/2006/relationships/notesSlide"/><Relationship Id="rId49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5.xml" Type="http://schemas.openxmlformats.org/officeDocument/2006/relationships/notesSlide"/><Relationship Id="rId51" Target="notesSlides/notesSlide16.xml" Type="http://schemas.openxmlformats.org/officeDocument/2006/relationships/notesSlide"/><Relationship Id="rId52" Target="notesSlides/notesSlide17.xml" Type="http://schemas.openxmlformats.org/officeDocument/2006/relationships/notesSlide"/><Relationship Id="rId53" Target="notesSlides/notesSlide18.xml" Type="http://schemas.openxmlformats.org/officeDocument/2006/relationships/notesSlide"/><Relationship Id="rId54" Target="fonts/font54.fntdata" Type="http://schemas.openxmlformats.org/officeDocument/2006/relationships/font"/><Relationship Id="rId55" Target="notesSlides/notesSlide19.xml" Type="http://schemas.openxmlformats.org/officeDocument/2006/relationships/notesSlide"/><Relationship Id="rId56" Target="notesSlides/notesSlide20.xml" Type="http://schemas.openxmlformats.org/officeDocument/2006/relationships/notesSlide"/><Relationship Id="rId57" Target="notesSlides/notesSlide21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Funcionalidade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API confirmar_pedido</a:t>
            </a:r>
          </a:p>
          <a:p>
            <a:r>
              <a:rPr lang="en-US"/>
              <a:t>moedas_utilizadas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Funcionalidade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4.png" Type="http://schemas.openxmlformats.org/officeDocument/2006/relationships/image"/><Relationship Id="rId12" Target="http://35.254.234.133" TargetMode="External" Type="http://schemas.openxmlformats.org/officeDocument/2006/relationships/hyperlink"/><Relationship Id="rId2" Target="../notesSlides/notesSlide4.xml" Type="http://schemas.openxmlformats.org/officeDocument/2006/relationships/notesSlide"/><Relationship Id="rId3" Target="../media/image9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7.jpeg" Type="http://schemas.openxmlformats.org/officeDocument/2006/relationships/image"/><Relationship Id="rId4" Target="../media/image18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9.jpe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4.pn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4.jpe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4.jpe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4.jpe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8.jpeg" Type="http://schemas.openxmlformats.org/officeDocument/2006/relationships/image"/><Relationship Id="rId4" Target="../media/image18.jpeg" Type="http://schemas.openxmlformats.org/officeDocument/2006/relationships/image"/><Relationship Id="rId5" Target="../media/image4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8.jpeg" Type="http://schemas.openxmlformats.org/officeDocument/2006/relationships/image"/><Relationship Id="rId4" Target="../media/image4.png" Type="http://schemas.openxmlformats.org/officeDocument/2006/relationships/image"/><Relationship Id="rId5" Target="../media/image41.jpeg" Type="http://schemas.openxmlformats.org/officeDocument/2006/relationships/image"/><Relationship Id="rId6" Target="../media/VAHJ84dpVK0.mp4" Type="http://schemas.openxmlformats.org/officeDocument/2006/relationships/video"/><Relationship Id="rId7" Target="../media/VAHJ84dpVK0.mp4" Type="http://schemas.microsoft.com/office/2007/relationships/media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8.jpeg" Type="http://schemas.openxmlformats.org/officeDocument/2006/relationships/image"/><Relationship Id="rId4" Target="../media/image18.jpeg" Type="http://schemas.openxmlformats.org/officeDocument/2006/relationships/image"/><Relationship Id="rId5" Target="../media/image4.png" Type="http://schemas.openxmlformats.org/officeDocument/2006/relationships/image"/><Relationship Id="rId6" Target="../media/image29.png" Type="http://schemas.openxmlformats.org/officeDocument/2006/relationships/image"/><Relationship Id="rId7" Target="../media/image20.pn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38.jpeg" Type="http://schemas.openxmlformats.org/officeDocument/2006/relationships/image"/><Relationship Id="rId4" Target="../media/image4.png" Type="http://schemas.openxmlformats.org/officeDocument/2006/relationships/image"/><Relationship Id="rId5" Target="../media/image42.jpeg" Type="http://schemas.openxmlformats.org/officeDocument/2006/relationships/image"/><Relationship Id="rId6" Target="../media/VAHJ84fBDYY.mp4" Type="http://schemas.openxmlformats.org/officeDocument/2006/relationships/video"/><Relationship Id="rId7" Target="../media/VAHJ84fBDYY.mp4" Type="http://schemas.microsoft.com/office/2007/relationships/media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38.jpe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18.jpeg" Type="http://schemas.openxmlformats.org/officeDocument/2006/relationships/image"/><Relationship Id="rId8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46.jpeg" Type="http://schemas.openxmlformats.org/officeDocument/2006/relationships/image"/><Relationship Id="rId4" Target="../media/image4.png" Type="http://schemas.openxmlformats.org/officeDocument/2006/relationships/image"/><Relationship Id="rId5" Target="../media/image47.jpeg" Type="http://schemas.openxmlformats.org/officeDocument/2006/relationships/image"/><Relationship Id="rId6" Target="../media/VAHJ8XdjNuY.mp4" Type="http://schemas.openxmlformats.org/officeDocument/2006/relationships/video"/><Relationship Id="rId7" Target="../media/VAHJ8XdjNuY.mp4" Type="http://schemas.microsoft.com/office/2007/relationships/media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svg" Type="http://schemas.openxmlformats.org/officeDocument/2006/relationships/image"/><Relationship Id="rId11" Target="../media/image53.png" Type="http://schemas.openxmlformats.org/officeDocument/2006/relationships/image"/><Relationship Id="rId12" Target="../media/image54.svg" Type="http://schemas.openxmlformats.org/officeDocument/2006/relationships/image"/><Relationship Id="rId13" Target="../media/image55.png" Type="http://schemas.openxmlformats.org/officeDocument/2006/relationships/image"/><Relationship Id="rId14" Target="../media/image56.svg" Type="http://schemas.openxmlformats.org/officeDocument/2006/relationships/image"/><Relationship Id="rId2" Target="../notesSlides/notesSlide16.xml" Type="http://schemas.openxmlformats.org/officeDocument/2006/relationships/notesSlide"/><Relationship Id="rId3" Target="../media/image46.jpeg" Type="http://schemas.openxmlformats.org/officeDocument/2006/relationships/image"/><Relationship Id="rId4" Target="../media/image4.png" Type="http://schemas.openxmlformats.org/officeDocument/2006/relationships/image"/><Relationship Id="rId5" Target="../media/image48.png" Type="http://schemas.openxmlformats.org/officeDocument/2006/relationships/image"/><Relationship Id="rId6" Target="../media/image39.pn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46.jpeg" Type="http://schemas.openxmlformats.org/officeDocument/2006/relationships/image"/><Relationship Id="rId4" Target="../media/image4.png" Type="http://schemas.openxmlformats.org/officeDocument/2006/relationships/image"/><Relationship Id="rId5" Target="../media/image57.jpeg" Type="http://schemas.openxmlformats.org/officeDocument/2006/relationships/image"/><Relationship Id="rId6" Target="../media/VAHJ8TUK82I.mp4" Type="http://schemas.openxmlformats.org/officeDocument/2006/relationships/video"/><Relationship Id="rId7" Target="../media/VAHJ8TUK82I.mp4" Type="http://schemas.microsoft.com/office/2007/relationships/media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4.png" Type="http://schemas.openxmlformats.org/officeDocument/2006/relationships/image"/><Relationship Id="rId4" Target="../media/image5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4.png" Type="http://schemas.openxmlformats.org/officeDocument/2006/relationships/image"/><Relationship Id="rId4" Target="../media/image59.jpeg" Type="http://schemas.openxmlformats.org/officeDocument/2006/relationships/image"/><Relationship Id="rId5" Target="../media/VAHJ4NFM2rQ.mp4" Type="http://schemas.openxmlformats.org/officeDocument/2006/relationships/video"/><Relationship Id="rId6" Target="../media/VAHJ4NFM2rQ.mp4" Type="http://schemas.microsoft.com/office/2007/relationships/media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60.jpeg" Type="http://schemas.openxmlformats.org/officeDocument/2006/relationships/image"/><Relationship Id="rId4" Target="../media/image18.jpeg" Type="http://schemas.openxmlformats.org/officeDocument/2006/relationships/image"/><Relationship Id="rId5" Target="../media/image61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62.jpeg" Type="http://schemas.openxmlformats.org/officeDocument/2006/relationships/image"/><Relationship Id="rId4" Target="../media/image6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64.jpe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67.png" Type="http://schemas.openxmlformats.org/officeDocument/2006/relationships/image"/><Relationship Id="rId7" Target="../media/image40.png" Type="http://schemas.openxmlformats.org/officeDocument/2006/relationships/image"/><Relationship Id="rId8" Target="../media/image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68.jpe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286500" y="1469822"/>
            <a:ext cx="5715000" cy="5715000"/>
            <a:chOff x="0" y="0"/>
            <a:chExt cx="7620000" cy="7620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5" r="0" b="-125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162918" y="6373512"/>
            <a:ext cx="6579394" cy="60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b="true" sz="3400" spc="2">
                <a:solidFill>
                  <a:srgbClr val="E2E8F0"/>
                </a:solidFill>
                <a:latin typeface="Arimo Bold"/>
                <a:ea typeface="Arimo Bold"/>
                <a:cs typeface="Arimo Bold"/>
                <a:sym typeface="Arimo Bold"/>
              </a:rPr>
              <a:t>O futuro com você!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904875"/>
            <a:ext cx="9731335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8032F6"/>
                </a:solidFill>
                <a:latin typeface="Roboto Bold"/>
                <a:ea typeface="Roboto Bold"/>
                <a:cs typeface="Roboto Bold"/>
                <a:sym typeface="Roboto Bold"/>
              </a:rPr>
              <a:t>Sumário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60811" y="4354195"/>
            <a:ext cx="341607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FFFFFF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Equipe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11555" y="425894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336FFB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60811" y="5146675"/>
            <a:ext cx="35938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FFFFFF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Visão Geral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11555" y="505142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336FFB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60811" y="6610985"/>
            <a:ext cx="372995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FFFFFF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Stack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11555" y="584390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336FFB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60811" y="7463790"/>
            <a:ext cx="372995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FFFFFF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Arquitetura do Projeto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11555" y="663638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336FFB"/>
                </a:solidFill>
                <a:latin typeface="Roboto Bold"/>
                <a:ea typeface="Roboto Bold"/>
                <a:cs typeface="Roboto Bold"/>
                <a:sym typeface="Roboto Bold"/>
              </a:rPr>
              <a:t>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11555" y="7428865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336FFB"/>
                </a:solidFill>
                <a:latin typeface="Roboto Bold"/>
                <a:ea typeface="Roboto Bold"/>
                <a:cs typeface="Roboto Bold"/>
                <a:sym typeface="Roboto Bold"/>
              </a:rPr>
              <a:t>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60811" y="5878830"/>
            <a:ext cx="405379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FFFFFF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Modelagem de dados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595" t="-34942" r="-37877" b="-98082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1171938" y="2179913"/>
            <a:ext cx="1077509" cy="0"/>
          </a:xfrm>
          <a:prstGeom prst="line">
            <a:avLst/>
          </a:prstGeom>
          <a:ln cap="flat" w="95250">
            <a:solidFill>
              <a:srgbClr val="8032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2442517" y="4354195"/>
            <a:ext cx="389685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FFFFFF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Funcionalidades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42517" y="5086350"/>
            <a:ext cx="341607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FFFFFF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Swagger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036321" y="4319270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336FFB"/>
                </a:solidFill>
                <a:latin typeface="Roboto Bold"/>
                <a:ea typeface="Roboto Bold"/>
                <a:cs typeface="Roboto Bold"/>
                <a:sym typeface="Roboto Bold"/>
              </a:rPr>
              <a:t>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036321" y="5111750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336FFB"/>
                </a:solidFill>
                <a:latin typeface="Roboto Bold"/>
                <a:ea typeface="Roboto Bold"/>
                <a:cs typeface="Roboto Bold"/>
                <a:sym typeface="Roboto Bold"/>
              </a:rPr>
              <a:t>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42517" y="5878830"/>
            <a:ext cx="341607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FFFFFF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Testes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036321" y="5900420"/>
            <a:ext cx="60609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b="true" sz="2400" spc="384">
                <a:solidFill>
                  <a:srgbClr val="336FFB"/>
                </a:solidFill>
                <a:latin typeface="Roboto Bold"/>
                <a:ea typeface="Roboto Bold"/>
                <a:cs typeface="Roboto Bold"/>
                <a:sym typeface="Roboto Bold"/>
              </a:rPr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595" t="-34942" r="-37877" b="-98082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171938" y="2179913"/>
            <a:ext cx="1077509" cy="0"/>
          </a:xfrm>
          <a:prstGeom prst="line">
            <a:avLst/>
          </a:prstGeom>
          <a:ln cap="flat" w="95250">
            <a:solidFill>
              <a:srgbClr val="8032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835556" y="3524288"/>
            <a:ext cx="2893948" cy="289394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6049" r="0" b="-1650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843929" y="3696526"/>
            <a:ext cx="2893948" cy="289394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9188" t="-17619" r="-8739" b="-3966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51845" y="3524288"/>
            <a:ext cx="2893948" cy="289394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7280" r="0" b="-3296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859762" y="3696526"/>
            <a:ext cx="2893948" cy="289394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5189" r="0" b="-3505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904875"/>
            <a:ext cx="9731335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8032F6"/>
                </a:solidFill>
                <a:latin typeface="Roboto Bold"/>
                <a:ea typeface="Roboto Bold"/>
                <a:cs typeface="Roboto Bold"/>
                <a:sym typeface="Roboto Bold"/>
              </a:rPr>
              <a:t>Equipe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20040" y="6692330"/>
            <a:ext cx="212498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FFFFFF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Tiago Sousa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32541" y="6692330"/>
            <a:ext cx="191672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FFFFFF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Pedro Neto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13486" y="6692330"/>
            <a:ext cx="242802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FFFFFF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Valdemir Neto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05735" y="6692330"/>
            <a:ext cx="260200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FFFFFF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Rafhael Rocha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09887" y="4089797"/>
            <a:ext cx="914400" cy="914400"/>
            <a:chOff x="0" y="0"/>
            <a:chExt cx="1219200" cy="12192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743893" y="4089797"/>
            <a:ext cx="800100" cy="914400"/>
            <a:chOff x="0" y="0"/>
            <a:chExt cx="1066800" cy="12192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06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920799" y="3743386"/>
            <a:ext cx="1400114" cy="1400114"/>
            <a:chOff x="0" y="0"/>
            <a:chExt cx="1866818" cy="1866818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463074" y="612759"/>
              <a:ext cx="1219200" cy="1219200"/>
              <a:chOff x="0" y="0"/>
              <a:chExt cx="1219200" cy="1219200"/>
            </a:xfrm>
          </p:grpSpPr>
          <p:sp>
            <p:nvSpPr>
              <p:cNvPr name="Freeform 10" id="10" descr="preencoded.png"/>
              <p:cNvSpPr/>
              <p:nvPr/>
            </p:nvSpPr>
            <p:spPr>
              <a:xfrm flipH="false" flipV="false" rot="0">
                <a:off x="0" y="0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1219200"/>
                    </a:lnTo>
                    <a:lnTo>
                      <a:pt x="0" y="1219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63825" y="0"/>
              <a:ext cx="1802993" cy="1802993"/>
            </a:xfrm>
            <a:custGeom>
              <a:avLst/>
              <a:gdLst/>
              <a:ahLst/>
              <a:cxnLst/>
              <a:rect r="r" b="b" t="t" l="l"/>
              <a:pathLst>
                <a:path h="1802993" w="1802993">
                  <a:moveTo>
                    <a:pt x="0" y="0"/>
                  </a:moveTo>
                  <a:lnTo>
                    <a:pt x="1802993" y="0"/>
                  </a:lnTo>
                  <a:lnTo>
                    <a:pt x="1802993" y="1802993"/>
                  </a:lnTo>
                  <a:lnTo>
                    <a:pt x="0" y="18029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66818" cy="1866818"/>
            </a:xfrm>
            <a:custGeom>
              <a:avLst/>
              <a:gdLst/>
              <a:ahLst/>
              <a:cxnLst/>
              <a:rect r="r" b="b" t="t" l="l"/>
              <a:pathLst>
                <a:path h="1866818" w="1866818">
                  <a:moveTo>
                    <a:pt x="0" y="0"/>
                  </a:moveTo>
                  <a:lnTo>
                    <a:pt x="1866818" y="0"/>
                  </a:lnTo>
                  <a:lnTo>
                    <a:pt x="1866818" y="1866818"/>
                  </a:lnTo>
                  <a:lnTo>
                    <a:pt x="0" y="1866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738459" y="3854114"/>
            <a:ext cx="1352245" cy="1373969"/>
            <a:chOff x="0" y="0"/>
            <a:chExt cx="1802993" cy="183195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399248" y="612759"/>
              <a:ext cx="1219200" cy="1219200"/>
              <a:chOff x="0" y="0"/>
              <a:chExt cx="1219200" cy="1219200"/>
            </a:xfrm>
          </p:grpSpPr>
          <p:sp>
            <p:nvSpPr>
              <p:cNvPr name="Freeform 15" id="15" descr="preencoded.png"/>
              <p:cNvSpPr/>
              <p:nvPr/>
            </p:nvSpPr>
            <p:spPr>
              <a:xfrm flipH="false" flipV="false" rot="0">
                <a:off x="0" y="0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1219200"/>
                    </a:lnTo>
                    <a:lnTo>
                      <a:pt x="0" y="1219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2993" cy="1802993"/>
            </a:xfrm>
            <a:custGeom>
              <a:avLst/>
              <a:gdLst/>
              <a:ahLst/>
              <a:cxnLst/>
              <a:rect r="r" b="b" t="t" l="l"/>
              <a:pathLst>
                <a:path h="1802993" w="1802993">
                  <a:moveTo>
                    <a:pt x="0" y="0"/>
                  </a:moveTo>
                  <a:lnTo>
                    <a:pt x="1802993" y="0"/>
                  </a:lnTo>
                  <a:lnTo>
                    <a:pt x="1802993" y="1802993"/>
                  </a:lnTo>
                  <a:lnTo>
                    <a:pt x="0" y="18029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819509" y="4202956"/>
            <a:ext cx="914400" cy="914400"/>
            <a:chOff x="0" y="0"/>
            <a:chExt cx="1219200" cy="12192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8520073" y="3743386"/>
            <a:ext cx="1352245" cy="1352245"/>
          </a:xfrm>
          <a:custGeom>
            <a:avLst/>
            <a:gdLst/>
            <a:ahLst/>
            <a:cxnLst/>
            <a:rect r="r" b="b" t="t" l="l"/>
            <a:pathLst>
              <a:path h="1352245" w="1352245">
                <a:moveTo>
                  <a:pt x="0" y="0"/>
                </a:moveTo>
                <a:lnTo>
                  <a:pt x="1352245" y="0"/>
                </a:lnTo>
                <a:lnTo>
                  <a:pt x="1352245" y="1352245"/>
                </a:lnTo>
                <a:lnTo>
                  <a:pt x="0" y="13522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80558" y="3720654"/>
            <a:ext cx="1326770" cy="1374977"/>
          </a:xfrm>
          <a:custGeom>
            <a:avLst/>
            <a:gdLst/>
            <a:ahLst/>
            <a:cxnLst/>
            <a:rect r="r" b="b" t="t" l="l"/>
            <a:pathLst>
              <a:path h="1374977" w="1326770">
                <a:moveTo>
                  <a:pt x="0" y="0"/>
                </a:moveTo>
                <a:lnTo>
                  <a:pt x="1326770" y="0"/>
                </a:lnTo>
                <a:lnTo>
                  <a:pt x="1326770" y="1374977"/>
                </a:lnTo>
                <a:lnTo>
                  <a:pt x="0" y="13749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749" r="-9331" b="-2749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738459" y="3854114"/>
            <a:ext cx="1413876" cy="1413876"/>
          </a:xfrm>
          <a:custGeom>
            <a:avLst/>
            <a:gdLst/>
            <a:ahLst/>
            <a:cxnLst/>
            <a:rect r="r" b="b" t="t" l="l"/>
            <a:pathLst>
              <a:path h="1413876" w="1413876">
                <a:moveTo>
                  <a:pt x="0" y="0"/>
                </a:moveTo>
                <a:lnTo>
                  <a:pt x="1413876" y="0"/>
                </a:lnTo>
                <a:lnTo>
                  <a:pt x="1413876" y="1413876"/>
                </a:lnTo>
                <a:lnTo>
                  <a:pt x="0" y="1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43000" y="838200"/>
            <a:ext cx="17145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900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Visão Geral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3000" y="1884759"/>
            <a:ext cx="17145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O que é o nextPay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3000" y="5492353"/>
            <a:ext cx="5048231" cy="52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Banco Digital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8087" y="6212681"/>
            <a:ext cx="4878048" cy="107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8"/>
              </a:lnSpc>
            </a:pP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Gestão completa de saldo, transferências, PIX instantâneos, tudo com segurança bancária de ponta.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19856" y="5492353"/>
            <a:ext cx="5048231" cy="52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Marketplace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04943" y="6212681"/>
            <a:ext cx="4878048" cy="107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8"/>
              </a:lnSpc>
            </a:pP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Plataforma nativa para compra e venda de produtos, integrada diretamente ao fluxo financeiro da conta.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96712" y="5492353"/>
            <a:ext cx="5048288" cy="52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Cashback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81799" y="6212681"/>
            <a:ext cx="4878105" cy="130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8"/>
              </a:lnSpc>
            </a:pP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Programa de fidelidade inteligente que recompensa cada transação, incentivando o ciclo de consumo.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5595" t="-34942" r="-37877" b="-98082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931757" y="8022242"/>
            <a:ext cx="4878048" cy="34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8"/>
              </a:lnSpc>
            </a:pPr>
            <a:r>
              <a:rPr lang="en-US" sz="1900" b="true">
                <a:solidFill>
                  <a:srgbClr val="9D50BB"/>
                </a:solidFill>
                <a:latin typeface="Inter Bold"/>
                <a:ea typeface="Inter Bold"/>
                <a:cs typeface="Inter Bold"/>
                <a:sym typeface="Inter Bold"/>
              </a:rPr>
              <a:t>Acesse o nextPay:</a:t>
            </a: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12" tooltip="http://35.254.234.133"/>
              </a:rPr>
              <a:t>http://35.254.234.133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838200"/>
            <a:ext cx="17145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900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Fluxo de Compra Integrado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1884759"/>
            <a:ext cx="17145000" cy="40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Da Escolha ao Cashback em Segundos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53412" y="3985784"/>
            <a:ext cx="1408176" cy="1408176"/>
            <a:chOff x="0" y="0"/>
            <a:chExt cx="1877568" cy="18775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7568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77568">
                  <a:moveTo>
                    <a:pt x="0" y="0"/>
                  </a:moveTo>
                  <a:lnTo>
                    <a:pt x="1877568" y="0"/>
                  </a:lnTo>
                  <a:lnTo>
                    <a:pt x="1877568" y="1877568"/>
                  </a:lnTo>
                  <a:lnTo>
                    <a:pt x="0" y="1877568"/>
                  </a:lnTo>
                  <a:close/>
                </a:path>
              </a:pathLst>
            </a:custGeom>
            <a:solidFill>
              <a:srgbClr val="000000"/>
            </a:solidFill>
            <a:ln w="36576" cap="sq">
              <a:solidFill>
                <a:srgbClr val="0066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2171700" y="4004072"/>
            <a:ext cx="1371600" cy="1371600"/>
            <a:chOff x="0" y="0"/>
            <a:chExt cx="18288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8288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0066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43000" y="5699522"/>
            <a:ext cx="3429000" cy="42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Pedido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6246019"/>
            <a:ext cx="3429000" cy="284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sz="16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Validação de estoque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344393" y="3985784"/>
            <a:ext cx="1408176" cy="1408176"/>
            <a:chOff x="0" y="0"/>
            <a:chExt cx="1877568" cy="18775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77568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77568">
                  <a:moveTo>
                    <a:pt x="0" y="0"/>
                  </a:moveTo>
                  <a:lnTo>
                    <a:pt x="1877568" y="0"/>
                  </a:lnTo>
                  <a:lnTo>
                    <a:pt x="1877568" y="1877568"/>
                  </a:lnTo>
                  <a:lnTo>
                    <a:pt x="0" y="1877568"/>
                  </a:lnTo>
                  <a:close/>
                </a:path>
              </a:pathLst>
            </a:custGeom>
            <a:solidFill>
              <a:srgbClr val="000000"/>
            </a:solidFill>
            <a:ln w="36576" cap="sq">
              <a:solidFill>
                <a:srgbClr val="9D50B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362681" y="4004072"/>
            <a:ext cx="1371600" cy="1371600"/>
            <a:chOff x="0" y="0"/>
            <a:chExt cx="182880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8288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9D50B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333981" y="5699522"/>
            <a:ext cx="3429000" cy="42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Pagamento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33981" y="6246019"/>
            <a:ext cx="3429000" cy="57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sz="16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Débito em conta ou PIX com atualização instantânea de status.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535374" y="3985784"/>
            <a:ext cx="1408176" cy="1408176"/>
            <a:chOff x="0" y="0"/>
            <a:chExt cx="1877568" cy="18775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77568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77568">
                  <a:moveTo>
                    <a:pt x="0" y="0"/>
                  </a:moveTo>
                  <a:lnTo>
                    <a:pt x="1877568" y="0"/>
                  </a:lnTo>
                  <a:lnTo>
                    <a:pt x="1877568" y="1877568"/>
                  </a:lnTo>
                  <a:lnTo>
                    <a:pt x="0" y="1877568"/>
                  </a:lnTo>
                  <a:close/>
                </a:path>
              </a:pathLst>
            </a:custGeom>
            <a:solidFill>
              <a:srgbClr val="000000"/>
            </a:solidFill>
            <a:ln w="36576" cap="sq">
              <a:solidFill>
                <a:srgbClr val="0066F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553662" y="4004072"/>
            <a:ext cx="1371600" cy="1371600"/>
            <a:chOff x="0" y="0"/>
            <a:chExt cx="1828800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8288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0066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524962" y="5699522"/>
            <a:ext cx="3429000" cy="42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Transação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24962" y="6246019"/>
            <a:ext cx="3429000" cy="57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sz="16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Registro financeiro com categoria e vínculo de auditoria.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4726355" y="3985784"/>
            <a:ext cx="1408176" cy="1408176"/>
            <a:chOff x="0" y="0"/>
            <a:chExt cx="1877568" cy="18775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77568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77568">
                  <a:moveTo>
                    <a:pt x="0" y="0"/>
                  </a:moveTo>
                  <a:lnTo>
                    <a:pt x="1877568" y="0"/>
                  </a:lnTo>
                  <a:lnTo>
                    <a:pt x="1877568" y="1877568"/>
                  </a:lnTo>
                  <a:lnTo>
                    <a:pt x="0" y="1877568"/>
                  </a:lnTo>
                  <a:close/>
                </a:path>
              </a:pathLst>
            </a:custGeom>
            <a:solidFill>
              <a:srgbClr val="000000"/>
            </a:solidFill>
            <a:ln w="36576" cap="sq">
              <a:solidFill>
                <a:srgbClr val="9D50B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4744643" y="4004072"/>
            <a:ext cx="1371600" cy="1371600"/>
            <a:chOff x="0" y="0"/>
            <a:chExt cx="1828800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8288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9D50B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04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715943" y="5699522"/>
            <a:ext cx="3429000" cy="42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Recompensa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15943" y="6246019"/>
            <a:ext cx="3429000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sz="16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Cálculo de cashback e atualização do nível de fidelidade.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595" t="-34942" r="-37877" b="-98082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3371850"/>
            <a:ext cx="428625" cy="342900"/>
            <a:chOff x="0" y="0"/>
            <a:chExt cx="571500" cy="4572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19856" y="3371850"/>
            <a:ext cx="385762" cy="342900"/>
            <a:chOff x="0" y="0"/>
            <a:chExt cx="514350" cy="4572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172" t="0" r="-2175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5595" t="-34942" r="-37877" b="-9808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94997" y="1457325"/>
            <a:ext cx="5160079" cy="2852116"/>
          </a:xfrm>
          <a:custGeom>
            <a:avLst/>
            <a:gdLst/>
            <a:ahLst/>
            <a:cxnLst/>
            <a:rect r="r" b="b" t="t" l="l"/>
            <a:pathLst>
              <a:path h="2852116" w="5160079">
                <a:moveTo>
                  <a:pt x="0" y="0"/>
                </a:moveTo>
                <a:lnTo>
                  <a:pt x="5160078" y="0"/>
                </a:lnTo>
                <a:lnTo>
                  <a:pt x="5160078" y="2852116"/>
                </a:lnTo>
                <a:lnTo>
                  <a:pt x="0" y="28521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43000" y="695325"/>
            <a:ext cx="17145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900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Modelagem de Dados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1703784"/>
            <a:ext cx="480819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Estrutura de 7 Entidades e 5 Enums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5938" y="3315891"/>
            <a:ext cx="178593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Tabelas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19931" y="3315891"/>
            <a:ext cx="20645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Enums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4356" y="4309318"/>
            <a:ext cx="2426494" cy="1668363"/>
            <a:chOff x="0" y="0"/>
            <a:chExt cx="3235325" cy="2224484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2140744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10" indent="-205105" lvl="1">
                <a:lnSpc>
                  <a:spcPts val="2280"/>
                </a:lnSpc>
                <a:buAutoNum type="arabicPeriod" startAt="1"/>
              </a:pPr>
              <a:r>
                <a:rPr lang="en-US" sz="19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Usuarios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590947"/>
              <a:ext cx="2140744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10" indent="-205105" lvl="1">
                <a:lnSpc>
                  <a:spcPts val="2280"/>
                </a:lnSpc>
                <a:buAutoNum type="arabicPeriod" startAt="1"/>
              </a:pPr>
              <a:r>
                <a:rPr lang="en-US" sz="19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Endereços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217216"/>
              <a:ext cx="3235325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10" indent="-205105" lvl="1">
                <a:lnSpc>
                  <a:spcPts val="2280"/>
                </a:lnSpc>
                <a:buAutoNum type="arabicPeriod" startAt="1"/>
              </a:pPr>
              <a:r>
                <a:rPr lang="en-US" sz="19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Contas_Correntes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843484"/>
              <a:ext cx="1897261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10" indent="-205105" lvl="1">
                <a:lnSpc>
                  <a:spcPts val="2280"/>
                </a:lnSpc>
                <a:buAutoNum type="arabicPeriod" startAt="1"/>
              </a:pPr>
              <a:r>
                <a:rPr lang="en-US" sz="19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Produtos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982789" y="4309318"/>
            <a:ext cx="131459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Pedidos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82789" y="4776043"/>
            <a:ext cx="196840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Itens_Pedidos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82789" y="5242768"/>
            <a:ext cx="172283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Transações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19931" y="3941862"/>
            <a:ext cx="765680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NivelUsuario (Bronze, Prata, Ouro, Diamante)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19931" y="4385072"/>
            <a:ext cx="591707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TipoUsuario (Comprador, Vendedor, Ambos)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19931" y="4854773"/>
            <a:ext cx="451417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StatusConta (Ativo, Bloqueado)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19931" y="5324475"/>
            <a:ext cx="650599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StatusPedido(Reservado, Finalizado, Cancelado)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19931" y="5791200"/>
            <a:ext cx="650599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TipoTransacao(Deposito, Saque, Pix, Saldo)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838200"/>
            <a:ext cx="17145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900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Arquitetura Técnica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1884759"/>
            <a:ext cx="17145000" cy="40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Stack Moderna e Escalável para Alta Performance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43000" y="3432572"/>
            <a:ext cx="5048231" cy="5629275"/>
            <a:chOff x="0" y="0"/>
            <a:chExt cx="6730975" cy="7505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31000" cy="7505700"/>
            </a:xfrm>
            <a:custGeom>
              <a:avLst/>
              <a:gdLst/>
              <a:ahLst/>
              <a:cxnLst/>
              <a:rect r="r" b="b" t="t" l="l"/>
              <a:pathLst>
                <a:path h="75057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505700"/>
                  </a:lnTo>
                  <a:lnTo>
                    <a:pt x="0" y="75057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3432572"/>
            <a:ext cx="5048231" cy="57150"/>
            <a:chOff x="0" y="0"/>
            <a:chExt cx="6730975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31000" cy="76200"/>
            </a:xfrm>
            <a:custGeom>
              <a:avLst/>
              <a:gdLst/>
              <a:ahLst/>
              <a:cxnLst/>
              <a:rect r="r" b="b" t="t" l="l"/>
              <a:pathLst>
                <a:path h="762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66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71625" y="4057650"/>
            <a:ext cx="571500" cy="571500"/>
            <a:chOff x="0" y="0"/>
            <a:chExt cx="762000" cy="7620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71625" y="4963716"/>
            <a:ext cx="419098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Backend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1625" y="5779294"/>
            <a:ext cx="196542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Spring Boot 3.4.0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1625" y="6304359"/>
            <a:ext cx="90785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Java 21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1625" y="6829425"/>
            <a:ext cx="199013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LangChain 0.35.0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1625" y="7354491"/>
            <a:ext cx="1736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Lo</a:t>
            </a: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mbok 1.18.36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619856" y="3432572"/>
            <a:ext cx="5048231" cy="5629275"/>
            <a:chOff x="0" y="0"/>
            <a:chExt cx="6730975" cy="7505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31000" cy="7505700"/>
            </a:xfrm>
            <a:custGeom>
              <a:avLst/>
              <a:gdLst/>
              <a:ahLst/>
              <a:cxnLst/>
              <a:rect r="r" b="b" t="t" l="l"/>
              <a:pathLst>
                <a:path h="75057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505700"/>
                  </a:lnTo>
                  <a:lnTo>
                    <a:pt x="0" y="75057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619856" y="3432572"/>
            <a:ext cx="5048231" cy="57150"/>
            <a:chOff x="0" y="0"/>
            <a:chExt cx="6730975" cy="76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31000" cy="76200"/>
            </a:xfrm>
            <a:custGeom>
              <a:avLst/>
              <a:gdLst/>
              <a:ahLst/>
              <a:cxnLst/>
              <a:rect r="r" b="b" t="t" l="l"/>
              <a:pathLst>
                <a:path h="762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50B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048481" y="4057650"/>
            <a:ext cx="500062" cy="571500"/>
            <a:chOff x="0" y="0"/>
            <a:chExt cx="666750" cy="7620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666750" cy="762000"/>
            </a:xfrm>
            <a:custGeom>
              <a:avLst/>
              <a:gdLst/>
              <a:ahLst/>
              <a:cxnLst/>
              <a:rect r="r" b="b" t="t" l="l"/>
              <a:pathLst>
                <a:path h="7620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81" t="0" r="-1281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048481" y="4963716"/>
            <a:ext cx="419098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Banco de Dados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48510" y="5779294"/>
            <a:ext cx="4190981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H2 Database (Dev/Test)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48510" y="6304359"/>
            <a:ext cx="4190981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JPA / Hibernate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96712" y="3432572"/>
            <a:ext cx="5048288" cy="5629275"/>
            <a:chOff x="0" y="0"/>
            <a:chExt cx="6731051" cy="7505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31000" cy="7505700"/>
            </a:xfrm>
            <a:custGeom>
              <a:avLst/>
              <a:gdLst/>
              <a:ahLst/>
              <a:cxnLst/>
              <a:rect r="r" b="b" t="t" l="l"/>
              <a:pathLst>
                <a:path h="75057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505700"/>
                  </a:lnTo>
                  <a:lnTo>
                    <a:pt x="0" y="75057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096712" y="3432572"/>
            <a:ext cx="5048288" cy="57150"/>
            <a:chOff x="0" y="0"/>
            <a:chExt cx="6731051" cy="76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31000" cy="76200"/>
            </a:xfrm>
            <a:custGeom>
              <a:avLst/>
              <a:gdLst/>
              <a:ahLst/>
              <a:cxnLst/>
              <a:rect r="r" b="b" t="t" l="l"/>
              <a:pathLst>
                <a:path h="762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66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525337" y="4057650"/>
            <a:ext cx="714375" cy="571500"/>
            <a:chOff x="0" y="0"/>
            <a:chExt cx="952500" cy="7620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952500" cy="762000"/>
            </a:xfrm>
            <a:custGeom>
              <a:avLst/>
              <a:gdLst/>
              <a:ahLst/>
              <a:cxnLst/>
              <a:rect r="r" b="b" t="t" l="l"/>
              <a:pathLst>
                <a:path h="7620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81" t="0" r="-1282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525337" y="4963716"/>
            <a:ext cx="419103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Frontend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525337" y="5779294"/>
            <a:ext cx="132412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React</a:t>
            </a: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18.3.1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25337" y="6304359"/>
            <a:ext cx="284648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Vit</a:t>
            </a: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e (bundler/dev-server)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5595" t="-34942" r="-37877" b="-98082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571625" y="7916466"/>
            <a:ext cx="409604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SpringDoc OpenAPI (Swagger)</a:t>
            </a: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2.8.5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695325"/>
            <a:ext cx="17145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900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Estrutura do Projeto Backend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33856" y="2011842"/>
            <a:ext cx="6190488" cy="8110423"/>
            <a:chOff x="0" y="0"/>
            <a:chExt cx="8253984" cy="108138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53984" cy="10813923"/>
            </a:xfrm>
            <a:custGeom>
              <a:avLst/>
              <a:gdLst/>
              <a:ahLst/>
              <a:cxnLst/>
              <a:rect r="r" b="b" t="t" l="l"/>
              <a:pathLst>
                <a:path h="10813923" w="8253984">
                  <a:moveTo>
                    <a:pt x="0" y="0"/>
                  </a:moveTo>
                  <a:lnTo>
                    <a:pt x="8253984" y="0"/>
                  </a:lnTo>
                  <a:lnTo>
                    <a:pt x="8253984" y="10813923"/>
                  </a:lnTo>
                  <a:lnTo>
                    <a:pt x="0" y="1081392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8288" cap="sq">
              <a:solidFill>
                <a:srgbClr val="0066F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297764" y="2188791"/>
            <a:ext cx="3650878" cy="7813675"/>
            <a:chOff x="0" y="0"/>
            <a:chExt cx="4450410" cy="952484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4450461" cy="9524873"/>
            </a:xfrm>
            <a:custGeom>
              <a:avLst/>
              <a:gdLst/>
              <a:ahLst/>
              <a:cxnLst/>
              <a:rect r="r" b="b" t="t" l="l"/>
              <a:pathLst>
                <a:path h="9524873" w="4450461">
                  <a:moveTo>
                    <a:pt x="0" y="0"/>
                  </a:moveTo>
                  <a:lnTo>
                    <a:pt x="4450461" y="0"/>
                  </a:lnTo>
                  <a:lnTo>
                    <a:pt x="4450461" y="9524873"/>
                  </a:lnTo>
                  <a:lnTo>
                    <a:pt x="0" y="9524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" r="1" b="-25"/>
              </a:stretch>
            </a:blipFill>
            <a:ln w="18288" cap="sq">
              <a:solidFill>
                <a:srgbClr val="0066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886700" y="2160984"/>
            <a:ext cx="9258300" cy="1502978"/>
            <a:chOff x="0" y="0"/>
            <a:chExt cx="12344400" cy="20039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4400" cy="2003933"/>
            </a:xfrm>
            <a:custGeom>
              <a:avLst/>
              <a:gdLst/>
              <a:ahLst/>
              <a:cxnLst/>
              <a:rect r="r" b="b" t="t" l="l"/>
              <a:pathLst>
                <a:path h="2003933" w="12344400">
                  <a:moveTo>
                    <a:pt x="0" y="0"/>
                  </a:moveTo>
                  <a:lnTo>
                    <a:pt x="12344400" y="0"/>
                  </a:lnTo>
                  <a:lnTo>
                    <a:pt x="12344400" y="2003933"/>
                  </a:lnTo>
                  <a:lnTo>
                    <a:pt x="0" y="200393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886700" y="2160984"/>
            <a:ext cx="42862" cy="1502978"/>
            <a:chOff x="0" y="0"/>
            <a:chExt cx="57150" cy="20039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150" cy="2003933"/>
            </a:xfrm>
            <a:custGeom>
              <a:avLst/>
              <a:gdLst/>
              <a:ahLst/>
              <a:cxnLst/>
              <a:rect r="r" b="b" t="t" l="l"/>
              <a:pathLst>
                <a:path h="2003933" w="57150">
                  <a:moveTo>
                    <a:pt x="0" y="0"/>
                  </a:moveTo>
                  <a:lnTo>
                    <a:pt x="57150" y="0"/>
                  </a:lnTo>
                  <a:lnTo>
                    <a:pt x="57150" y="2003933"/>
                  </a:lnTo>
                  <a:lnTo>
                    <a:pt x="0" y="2003933"/>
                  </a:lnTo>
                  <a:close/>
                </a:path>
              </a:pathLst>
            </a:custGeom>
            <a:solidFill>
              <a:srgbClr val="0066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172450" y="2375297"/>
            <a:ext cx="257175" cy="257175"/>
            <a:chOff x="0" y="0"/>
            <a:chExt cx="342900" cy="3429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77" r="0" b="-2777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643938" y="2313384"/>
            <a:ext cx="8215312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Controller &amp; DTO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43938" y="2703909"/>
            <a:ext cx="8215312" cy="24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Camada de exposição da API REST e objetos de transferência de dados.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86700" y="3878275"/>
            <a:ext cx="9258300" cy="1502978"/>
            <a:chOff x="0" y="0"/>
            <a:chExt cx="12344400" cy="20039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344400" cy="2003933"/>
            </a:xfrm>
            <a:custGeom>
              <a:avLst/>
              <a:gdLst/>
              <a:ahLst/>
              <a:cxnLst/>
              <a:rect r="r" b="b" t="t" l="l"/>
              <a:pathLst>
                <a:path h="2003933" w="12344400">
                  <a:moveTo>
                    <a:pt x="0" y="0"/>
                  </a:moveTo>
                  <a:lnTo>
                    <a:pt x="12344400" y="0"/>
                  </a:lnTo>
                  <a:lnTo>
                    <a:pt x="12344400" y="2003933"/>
                  </a:lnTo>
                  <a:lnTo>
                    <a:pt x="0" y="200393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886700" y="3878275"/>
            <a:ext cx="42862" cy="1502978"/>
            <a:chOff x="0" y="0"/>
            <a:chExt cx="57150" cy="20039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150" cy="2003933"/>
            </a:xfrm>
            <a:custGeom>
              <a:avLst/>
              <a:gdLst/>
              <a:ahLst/>
              <a:cxnLst/>
              <a:rect r="r" b="b" t="t" l="l"/>
              <a:pathLst>
                <a:path h="2003933" w="57150">
                  <a:moveTo>
                    <a:pt x="0" y="0"/>
                  </a:moveTo>
                  <a:lnTo>
                    <a:pt x="57150" y="0"/>
                  </a:lnTo>
                  <a:lnTo>
                    <a:pt x="57150" y="2003933"/>
                  </a:lnTo>
                  <a:lnTo>
                    <a:pt x="0" y="2003933"/>
                  </a:lnTo>
                  <a:close/>
                </a:path>
              </a:pathLst>
            </a:custGeom>
            <a:solidFill>
              <a:srgbClr val="9D50B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172450" y="4092588"/>
            <a:ext cx="321469" cy="257175"/>
            <a:chOff x="0" y="0"/>
            <a:chExt cx="428625" cy="3429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428625" cy="342900"/>
            </a:xfrm>
            <a:custGeom>
              <a:avLst/>
              <a:gdLst/>
              <a:ahLst/>
              <a:cxnLst/>
              <a:rect r="r" b="b" t="t" l="l"/>
              <a:pathLst>
                <a:path h="342900" w="428625">
                  <a:moveTo>
                    <a:pt x="0" y="0"/>
                  </a:moveTo>
                  <a:lnTo>
                    <a:pt x="428625" y="0"/>
                  </a:lnTo>
                  <a:lnTo>
                    <a:pt x="428625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88" r="0" b="-1388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708231" y="4030675"/>
            <a:ext cx="8151019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Service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08231" y="4421200"/>
            <a:ext cx="8151019" cy="24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Core do sistema: onde reside toda a lógica de negócio, transações e integrações.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886700" y="5595566"/>
            <a:ext cx="9258300" cy="1502978"/>
            <a:chOff x="0" y="0"/>
            <a:chExt cx="12344400" cy="20039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344400" cy="2003933"/>
            </a:xfrm>
            <a:custGeom>
              <a:avLst/>
              <a:gdLst/>
              <a:ahLst/>
              <a:cxnLst/>
              <a:rect r="r" b="b" t="t" l="l"/>
              <a:pathLst>
                <a:path h="2003933" w="12344400">
                  <a:moveTo>
                    <a:pt x="0" y="0"/>
                  </a:moveTo>
                  <a:lnTo>
                    <a:pt x="12344400" y="0"/>
                  </a:lnTo>
                  <a:lnTo>
                    <a:pt x="12344400" y="2003933"/>
                  </a:lnTo>
                  <a:lnTo>
                    <a:pt x="0" y="200393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886700" y="5595566"/>
            <a:ext cx="42862" cy="1502978"/>
            <a:chOff x="0" y="0"/>
            <a:chExt cx="57150" cy="20039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150" cy="2003933"/>
            </a:xfrm>
            <a:custGeom>
              <a:avLst/>
              <a:gdLst/>
              <a:ahLst/>
              <a:cxnLst/>
              <a:rect r="r" b="b" t="t" l="l"/>
              <a:pathLst>
                <a:path h="2003933" w="57150">
                  <a:moveTo>
                    <a:pt x="0" y="0"/>
                  </a:moveTo>
                  <a:lnTo>
                    <a:pt x="57150" y="0"/>
                  </a:lnTo>
                  <a:lnTo>
                    <a:pt x="57150" y="2003933"/>
                  </a:lnTo>
                  <a:lnTo>
                    <a:pt x="0" y="2003933"/>
                  </a:lnTo>
                  <a:close/>
                </a:path>
              </a:pathLst>
            </a:custGeom>
            <a:solidFill>
              <a:srgbClr val="0066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172450" y="5809879"/>
            <a:ext cx="225028" cy="257175"/>
            <a:chOff x="0" y="0"/>
            <a:chExt cx="300038" cy="34290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299974" cy="342900"/>
            </a:xfrm>
            <a:custGeom>
              <a:avLst/>
              <a:gdLst/>
              <a:ahLst/>
              <a:cxnLst/>
              <a:rect r="r" b="b" t="t" l="l"/>
              <a:pathLst>
                <a:path h="342900" w="299974">
                  <a:moveTo>
                    <a:pt x="0" y="0"/>
                  </a:moveTo>
                  <a:lnTo>
                    <a:pt x="299974" y="0"/>
                  </a:lnTo>
                  <a:lnTo>
                    <a:pt x="299974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51" r="-21" b="-1955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8611791" y="5747966"/>
            <a:ext cx="8247459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Model &amp; Repository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611791" y="6138491"/>
            <a:ext cx="8247459" cy="24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Mapeamento de entidades JPA e interfaces Spring Data para persistência.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886700" y="7317619"/>
            <a:ext cx="9258300" cy="1222972"/>
            <a:chOff x="0" y="0"/>
            <a:chExt cx="12344400" cy="163062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344400" cy="1630680"/>
            </a:xfrm>
            <a:custGeom>
              <a:avLst/>
              <a:gdLst/>
              <a:ahLst/>
              <a:cxnLst/>
              <a:rect r="r" b="b" t="t" l="l"/>
              <a:pathLst>
                <a:path h="1630680" w="12344400">
                  <a:moveTo>
                    <a:pt x="0" y="0"/>
                  </a:moveTo>
                  <a:lnTo>
                    <a:pt x="12344400" y="0"/>
                  </a:lnTo>
                  <a:lnTo>
                    <a:pt x="12344400" y="1630680"/>
                  </a:lnTo>
                  <a:lnTo>
                    <a:pt x="0" y="163068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172450" y="7531932"/>
            <a:ext cx="192881" cy="257175"/>
            <a:chOff x="0" y="0"/>
            <a:chExt cx="257175" cy="34290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257175" cy="342900"/>
            </a:xfrm>
            <a:custGeom>
              <a:avLst/>
              <a:gdLst/>
              <a:ahLst/>
              <a:cxnLst/>
              <a:rect r="r" b="b" t="t" l="l"/>
              <a:pathLst>
                <a:path h="342900" w="257175">
                  <a:moveTo>
                    <a:pt x="0" y="0"/>
                  </a:moveTo>
                  <a:lnTo>
                    <a:pt x="257175" y="0"/>
                  </a:lnTo>
                  <a:lnTo>
                    <a:pt x="257175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388" r="0" b="-1388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8579644" y="7470019"/>
            <a:ext cx="7561659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DevOps &amp; Build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79644" y="7860544"/>
            <a:ext cx="7561659" cy="24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Configurações de Docker, Maven (pom.xml) e ambientes para deploy.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886700" y="7357848"/>
            <a:ext cx="42862" cy="1502978"/>
            <a:chOff x="0" y="0"/>
            <a:chExt cx="57150" cy="200397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7150" cy="2003933"/>
            </a:xfrm>
            <a:custGeom>
              <a:avLst/>
              <a:gdLst/>
              <a:ahLst/>
              <a:cxnLst/>
              <a:rect r="r" b="b" t="t" l="l"/>
              <a:pathLst>
                <a:path h="2003933" w="57150">
                  <a:moveTo>
                    <a:pt x="0" y="0"/>
                  </a:moveTo>
                  <a:lnTo>
                    <a:pt x="57150" y="0"/>
                  </a:lnTo>
                  <a:lnTo>
                    <a:pt x="57150" y="2003933"/>
                  </a:lnTo>
                  <a:lnTo>
                    <a:pt x="0" y="2003933"/>
                  </a:lnTo>
                  <a:close/>
                </a:path>
              </a:pathLst>
            </a:custGeom>
            <a:solidFill>
              <a:srgbClr val="9D50BB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695325"/>
            <a:ext cx="17145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900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Estrutura do Projeto Frontend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33856" y="2151840"/>
            <a:ext cx="6190488" cy="7861792"/>
            <a:chOff x="0" y="0"/>
            <a:chExt cx="8253984" cy="104823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53984" cy="10482326"/>
            </a:xfrm>
            <a:custGeom>
              <a:avLst/>
              <a:gdLst/>
              <a:ahLst/>
              <a:cxnLst/>
              <a:rect r="r" b="b" t="t" l="l"/>
              <a:pathLst>
                <a:path h="10482326" w="8253984">
                  <a:moveTo>
                    <a:pt x="0" y="0"/>
                  </a:moveTo>
                  <a:lnTo>
                    <a:pt x="8253984" y="0"/>
                  </a:lnTo>
                  <a:lnTo>
                    <a:pt x="8253984" y="10482326"/>
                  </a:lnTo>
                  <a:lnTo>
                    <a:pt x="0" y="1048232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8288" cap="sq">
              <a:solidFill>
                <a:srgbClr val="9D50B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617403" y="2510857"/>
            <a:ext cx="3223393" cy="7143693"/>
            <a:chOff x="0" y="0"/>
            <a:chExt cx="4297858" cy="952492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4297807" cy="9524873"/>
            </a:xfrm>
            <a:custGeom>
              <a:avLst/>
              <a:gdLst/>
              <a:ahLst/>
              <a:cxnLst/>
              <a:rect r="r" b="b" t="t" l="l"/>
              <a:pathLst>
                <a:path h="9524873" w="4297807">
                  <a:moveTo>
                    <a:pt x="0" y="0"/>
                  </a:moveTo>
                  <a:lnTo>
                    <a:pt x="4297807" y="0"/>
                  </a:lnTo>
                  <a:lnTo>
                    <a:pt x="4297807" y="9524873"/>
                  </a:lnTo>
                  <a:lnTo>
                    <a:pt x="0" y="9524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" r="-1" b="-2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886700" y="2160984"/>
            <a:ext cx="9258300" cy="1431541"/>
            <a:chOff x="0" y="0"/>
            <a:chExt cx="12344400" cy="19087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4400" cy="1908683"/>
            </a:xfrm>
            <a:custGeom>
              <a:avLst/>
              <a:gdLst/>
              <a:ahLst/>
              <a:cxnLst/>
              <a:rect r="r" b="b" t="t" l="l"/>
              <a:pathLst>
                <a:path h="1908683" w="12344400">
                  <a:moveTo>
                    <a:pt x="0" y="0"/>
                  </a:moveTo>
                  <a:lnTo>
                    <a:pt x="12344400" y="0"/>
                  </a:lnTo>
                  <a:lnTo>
                    <a:pt x="12344400" y="1908683"/>
                  </a:lnTo>
                  <a:lnTo>
                    <a:pt x="0" y="190868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886700" y="2160984"/>
            <a:ext cx="42862" cy="1431541"/>
            <a:chOff x="0" y="0"/>
            <a:chExt cx="57150" cy="19087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150" cy="1908683"/>
            </a:xfrm>
            <a:custGeom>
              <a:avLst/>
              <a:gdLst/>
              <a:ahLst/>
              <a:cxnLst/>
              <a:rect r="r" b="b" t="t" l="l"/>
              <a:pathLst>
                <a:path h="1908683" w="57150">
                  <a:moveTo>
                    <a:pt x="0" y="0"/>
                  </a:moveTo>
                  <a:lnTo>
                    <a:pt x="57150" y="0"/>
                  </a:lnTo>
                  <a:lnTo>
                    <a:pt x="57150" y="1908683"/>
                  </a:lnTo>
                  <a:lnTo>
                    <a:pt x="0" y="1908683"/>
                  </a:lnTo>
                  <a:close/>
                </a:path>
              </a:pathLst>
            </a:custGeom>
            <a:solidFill>
              <a:srgbClr val="0066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172450" y="2346722"/>
            <a:ext cx="289322" cy="257175"/>
            <a:chOff x="0" y="0"/>
            <a:chExt cx="385762" cy="3429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385826" cy="342900"/>
            </a:xfrm>
            <a:custGeom>
              <a:avLst/>
              <a:gdLst/>
              <a:ahLst/>
              <a:cxnLst/>
              <a:rect r="r" b="b" t="t" l="l"/>
              <a:pathLst>
                <a:path h="342900" w="385826">
                  <a:moveTo>
                    <a:pt x="0" y="0"/>
                  </a:moveTo>
                  <a:lnTo>
                    <a:pt x="385826" y="0"/>
                  </a:lnTo>
                  <a:lnTo>
                    <a:pt x="385826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62" r="16" b="-762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676084" y="2284809"/>
            <a:ext cx="818316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Components &amp; Shadcn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76084" y="2661047"/>
            <a:ext cx="8183166" cy="24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Biblioteca de componentes de UI reutilizáveis e customizados com Shadcn/UI e Radix.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86700" y="3763975"/>
            <a:ext cx="9258300" cy="1431541"/>
            <a:chOff x="0" y="0"/>
            <a:chExt cx="12344400" cy="19087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344400" cy="1908683"/>
            </a:xfrm>
            <a:custGeom>
              <a:avLst/>
              <a:gdLst/>
              <a:ahLst/>
              <a:cxnLst/>
              <a:rect r="r" b="b" t="t" l="l"/>
              <a:pathLst>
                <a:path h="1908683" w="12344400">
                  <a:moveTo>
                    <a:pt x="0" y="0"/>
                  </a:moveTo>
                  <a:lnTo>
                    <a:pt x="12344400" y="0"/>
                  </a:lnTo>
                  <a:lnTo>
                    <a:pt x="12344400" y="1908683"/>
                  </a:lnTo>
                  <a:lnTo>
                    <a:pt x="0" y="190868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886700" y="3763975"/>
            <a:ext cx="42862" cy="1431541"/>
            <a:chOff x="0" y="0"/>
            <a:chExt cx="57150" cy="19087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150" cy="1908683"/>
            </a:xfrm>
            <a:custGeom>
              <a:avLst/>
              <a:gdLst/>
              <a:ahLst/>
              <a:cxnLst/>
              <a:rect r="r" b="b" t="t" l="l"/>
              <a:pathLst>
                <a:path h="1908683" w="57150">
                  <a:moveTo>
                    <a:pt x="0" y="0"/>
                  </a:moveTo>
                  <a:lnTo>
                    <a:pt x="57150" y="0"/>
                  </a:lnTo>
                  <a:lnTo>
                    <a:pt x="57150" y="1908683"/>
                  </a:lnTo>
                  <a:lnTo>
                    <a:pt x="0" y="1908683"/>
                  </a:lnTo>
                  <a:close/>
                </a:path>
              </a:pathLst>
            </a:custGeom>
            <a:solidFill>
              <a:srgbClr val="9D50B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172450" y="3949713"/>
            <a:ext cx="289322" cy="257175"/>
            <a:chOff x="0" y="0"/>
            <a:chExt cx="385762" cy="3429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385826" cy="342900"/>
            </a:xfrm>
            <a:custGeom>
              <a:avLst/>
              <a:gdLst/>
              <a:ahLst/>
              <a:cxnLst/>
              <a:rect r="r" b="b" t="t" l="l"/>
              <a:pathLst>
                <a:path h="342900" w="385826">
                  <a:moveTo>
                    <a:pt x="0" y="0"/>
                  </a:moveTo>
                  <a:lnTo>
                    <a:pt x="385826" y="0"/>
                  </a:lnTo>
                  <a:lnTo>
                    <a:pt x="385826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" r="16" b="-762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676084" y="3887800"/>
            <a:ext cx="818316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Contexts &amp; Hooks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76084" y="4264038"/>
            <a:ext cx="8183166" cy="5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Gestão de estado global da aplicação, incluindo autenticação, temas e fluxos de dados complexos.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886700" y="5366966"/>
            <a:ext cx="9258300" cy="1431541"/>
            <a:chOff x="0" y="0"/>
            <a:chExt cx="12344400" cy="190872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344400" cy="1908683"/>
            </a:xfrm>
            <a:custGeom>
              <a:avLst/>
              <a:gdLst/>
              <a:ahLst/>
              <a:cxnLst/>
              <a:rect r="r" b="b" t="t" l="l"/>
              <a:pathLst>
                <a:path h="1908683" w="12344400">
                  <a:moveTo>
                    <a:pt x="0" y="0"/>
                  </a:moveTo>
                  <a:lnTo>
                    <a:pt x="12344400" y="0"/>
                  </a:lnTo>
                  <a:lnTo>
                    <a:pt x="12344400" y="1908683"/>
                  </a:lnTo>
                  <a:lnTo>
                    <a:pt x="0" y="190868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886700" y="5366966"/>
            <a:ext cx="42862" cy="1431541"/>
            <a:chOff x="0" y="0"/>
            <a:chExt cx="57150" cy="190872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150" cy="1908683"/>
            </a:xfrm>
            <a:custGeom>
              <a:avLst/>
              <a:gdLst/>
              <a:ahLst/>
              <a:cxnLst/>
              <a:rect r="r" b="b" t="t" l="l"/>
              <a:pathLst>
                <a:path h="1908683" w="57150">
                  <a:moveTo>
                    <a:pt x="0" y="0"/>
                  </a:moveTo>
                  <a:lnTo>
                    <a:pt x="57150" y="0"/>
                  </a:lnTo>
                  <a:lnTo>
                    <a:pt x="57150" y="1908683"/>
                  </a:lnTo>
                  <a:lnTo>
                    <a:pt x="0" y="1908683"/>
                  </a:lnTo>
                  <a:close/>
                </a:path>
              </a:pathLst>
            </a:custGeom>
            <a:solidFill>
              <a:srgbClr val="0066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172450" y="5552704"/>
            <a:ext cx="192881" cy="257175"/>
            <a:chOff x="0" y="0"/>
            <a:chExt cx="257175" cy="34290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257175" cy="342900"/>
            </a:xfrm>
            <a:custGeom>
              <a:avLst/>
              <a:gdLst/>
              <a:ahLst/>
              <a:cxnLst/>
              <a:rect r="r" b="b" t="t" l="l"/>
              <a:pathLst>
                <a:path h="342900" w="257175">
                  <a:moveTo>
                    <a:pt x="0" y="0"/>
                  </a:moveTo>
                  <a:lnTo>
                    <a:pt x="257175" y="0"/>
                  </a:lnTo>
                  <a:lnTo>
                    <a:pt x="257175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388" r="0" b="-1388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8579644" y="5490791"/>
            <a:ext cx="827960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Pages &amp; Routes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79644" y="5867029"/>
            <a:ext cx="8279606" cy="5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Estrutura de páginas da aplicação (Dashboard, Marketplace, Login) integradas com React Router.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886700" y="6969957"/>
            <a:ext cx="9258300" cy="1431541"/>
            <a:chOff x="0" y="0"/>
            <a:chExt cx="12344400" cy="190872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344400" cy="1908683"/>
            </a:xfrm>
            <a:custGeom>
              <a:avLst/>
              <a:gdLst/>
              <a:ahLst/>
              <a:cxnLst/>
              <a:rect r="r" b="b" t="t" l="l"/>
              <a:pathLst>
                <a:path h="1908683" w="12344400">
                  <a:moveTo>
                    <a:pt x="0" y="0"/>
                  </a:moveTo>
                  <a:lnTo>
                    <a:pt x="12344400" y="0"/>
                  </a:lnTo>
                  <a:lnTo>
                    <a:pt x="12344400" y="1908683"/>
                  </a:lnTo>
                  <a:lnTo>
                    <a:pt x="0" y="190868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886700" y="6969957"/>
            <a:ext cx="42862" cy="1431541"/>
            <a:chOff x="0" y="0"/>
            <a:chExt cx="57150" cy="190872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150" cy="1908683"/>
            </a:xfrm>
            <a:custGeom>
              <a:avLst/>
              <a:gdLst/>
              <a:ahLst/>
              <a:cxnLst/>
              <a:rect r="r" b="b" t="t" l="l"/>
              <a:pathLst>
                <a:path h="1908683" w="57150">
                  <a:moveTo>
                    <a:pt x="0" y="0"/>
                  </a:moveTo>
                  <a:lnTo>
                    <a:pt x="57150" y="0"/>
                  </a:lnTo>
                  <a:lnTo>
                    <a:pt x="57150" y="1908683"/>
                  </a:lnTo>
                  <a:lnTo>
                    <a:pt x="0" y="1908683"/>
                  </a:lnTo>
                  <a:close/>
                </a:path>
              </a:pathLst>
            </a:custGeom>
            <a:solidFill>
              <a:srgbClr val="9D50B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172450" y="7155694"/>
            <a:ext cx="321469" cy="257175"/>
            <a:chOff x="0" y="0"/>
            <a:chExt cx="428625" cy="34290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428625" cy="342900"/>
            </a:xfrm>
            <a:custGeom>
              <a:avLst/>
              <a:gdLst/>
              <a:ahLst/>
              <a:cxnLst/>
              <a:rect r="r" b="b" t="t" l="l"/>
              <a:pathLst>
                <a:path h="342900" w="428625">
                  <a:moveTo>
                    <a:pt x="0" y="0"/>
                  </a:moveTo>
                  <a:lnTo>
                    <a:pt x="428625" y="0"/>
                  </a:lnTo>
                  <a:lnTo>
                    <a:pt x="428625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388" r="0" b="-1388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8708231" y="7093782"/>
            <a:ext cx="8151019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Services &amp; API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708231" y="7470019"/>
            <a:ext cx="8151019" cy="5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Camada de comunicação com o Backend, utilizando Axios para chamadas RESTful e tratamento de dados.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695325"/>
            <a:ext cx="17145000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Validação de E-mail</a:t>
            </a:r>
          </a:p>
          <a:p>
            <a:pPr algn="l">
              <a:lnSpc>
                <a:spcPts val="588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1703784"/>
            <a:ext cx="790902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Sitema de autenticação e segurança de acesso do usuário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00275" y="3358753"/>
            <a:ext cx="80295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Geração de código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00275" y="3880247"/>
            <a:ext cx="8029575" cy="59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Sitema gera automaticamente um código aleatório para autenticação do usuário ao se cadastrar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00275" y="5251847"/>
            <a:ext cx="80295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Autenticação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00275" y="5773341"/>
            <a:ext cx="8029575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Liberação do acesso apenas após validação do código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00275" y="7144941"/>
            <a:ext cx="80295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Segurança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00275" y="7666434"/>
            <a:ext cx="8029575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Confirmação de identidade durante acesso e cadastro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87100" y="3349228"/>
            <a:ext cx="60579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Fluxo de verificação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087100" y="4161234"/>
            <a:ext cx="6057900" cy="3657600"/>
            <a:chOff x="0" y="0"/>
            <a:chExt cx="8077200" cy="4876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77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087100" y="4161234"/>
            <a:ext cx="2578446" cy="771526"/>
            <a:chOff x="0" y="0"/>
            <a:chExt cx="3437928" cy="10287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37931" cy="1028703"/>
            </a:xfrm>
            <a:custGeom>
              <a:avLst/>
              <a:gdLst/>
              <a:ahLst/>
              <a:cxnLst/>
              <a:rect r="r" b="b" t="t" l="l"/>
              <a:pathLst>
                <a:path h="1028703" w="3437931">
                  <a:moveTo>
                    <a:pt x="0" y="0"/>
                  </a:moveTo>
                  <a:lnTo>
                    <a:pt x="3437931" y="0"/>
                  </a:lnTo>
                  <a:lnTo>
                    <a:pt x="3437931" y="1028703"/>
                  </a:lnTo>
                  <a:lnTo>
                    <a:pt x="0" y="10287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19" r="0" b="-1511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437928" cy="1047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D50B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etapa 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665546" y="4161234"/>
            <a:ext cx="3479454" cy="771526"/>
            <a:chOff x="0" y="0"/>
            <a:chExt cx="4639272" cy="10287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39270" cy="1028703"/>
            </a:xfrm>
            <a:custGeom>
              <a:avLst/>
              <a:gdLst/>
              <a:ahLst/>
              <a:cxnLst/>
              <a:rect r="r" b="b" t="t" l="l"/>
              <a:pathLst>
                <a:path h="1028703" w="4639270">
                  <a:moveTo>
                    <a:pt x="0" y="0"/>
                  </a:moveTo>
                  <a:lnTo>
                    <a:pt x="4639270" y="0"/>
                  </a:lnTo>
                  <a:lnTo>
                    <a:pt x="4639270" y="1028703"/>
                  </a:lnTo>
                  <a:lnTo>
                    <a:pt x="0" y="10287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874" r="0" b="-3787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639272" cy="1047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D50B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Processo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87100" y="4932759"/>
            <a:ext cx="2578446" cy="725090"/>
            <a:chOff x="0" y="0"/>
            <a:chExt cx="3437928" cy="9667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37931" cy="966786"/>
            </a:xfrm>
            <a:custGeom>
              <a:avLst/>
              <a:gdLst/>
              <a:ahLst/>
              <a:cxnLst/>
              <a:rect r="r" b="b" t="t" l="l"/>
              <a:pathLst>
                <a:path h="966786" w="3437931">
                  <a:moveTo>
                    <a:pt x="0" y="0"/>
                  </a:moveTo>
                  <a:lnTo>
                    <a:pt x="3437931" y="0"/>
                  </a:lnTo>
                  <a:lnTo>
                    <a:pt x="3437931" y="966786"/>
                  </a:lnTo>
                  <a:lnTo>
                    <a:pt x="0" y="9667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89" r="0" b="-1928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437928" cy="966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 Cadastro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665546" y="4932759"/>
            <a:ext cx="3479454" cy="725090"/>
            <a:chOff x="0" y="0"/>
            <a:chExt cx="4639272" cy="96678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39270" cy="966786"/>
            </a:xfrm>
            <a:custGeom>
              <a:avLst/>
              <a:gdLst/>
              <a:ahLst/>
              <a:cxnLst/>
              <a:rect r="r" b="b" t="t" l="l"/>
              <a:pathLst>
                <a:path h="966786" w="4639270">
                  <a:moveTo>
                    <a:pt x="0" y="0"/>
                  </a:moveTo>
                  <a:lnTo>
                    <a:pt x="4639270" y="0"/>
                  </a:lnTo>
                  <a:lnTo>
                    <a:pt x="4639270" y="966786"/>
                  </a:lnTo>
                  <a:lnTo>
                    <a:pt x="0" y="9667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501" r="0" b="-4350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639272" cy="966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 Solicitação de validação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087100" y="5657850"/>
            <a:ext cx="6057900" cy="717947"/>
            <a:chOff x="0" y="0"/>
            <a:chExt cx="8077200" cy="95726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77200" cy="957199"/>
            </a:xfrm>
            <a:custGeom>
              <a:avLst/>
              <a:gdLst/>
              <a:ahLst/>
              <a:cxnLst/>
              <a:rect r="r" b="b" t="t" l="l"/>
              <a:pathLst>
                <a:path h="957199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957199"/>
                  </a:lnTo>
                  <a:lnTo>
                    <a:pt x="0" y="957199"/>
                  </a:lnTo>
                  <a:close/>
                </a:path>
              </a:pathLst>
            </a:custGeom>
            <a:solidFill>
              <a:srgbClr val="0066FF">
                <a:alpha val="0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087100" y="5657850"/>
            <a:ext cx="2578446" cy="717946"/>
            <a:chOff x="0" y="0"/>
            <a:chExt cx="3437928" cy="95726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37931" cy="957260"/>
            </a:xfrm>
            <a:custGeom>
              <a:avLst/>
              <a:gdLst/>
              <a:ahLst/>
              <a:cxnLst/>
              <a:rect r="r" b="b" t="t" l="l"/>
              <a:pathLst>
                <a:path h="957260" w="3437931">
                  <a:moveTo>
                    <a:pt x="0" y="0"/>
                  </a:moveTo>
                  <a:lnTo>
                    <a:pt x="3437931" y="0"/>
                  </a:lnTo>
                  <a:lnTo>
                    <a:pt x="3437931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978" r="0" b="-1997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437928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 Geração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665546" y="5657850"/>
            <a:ext cx="3479454" cy="717946"/>
            <a:chOff x="0" y="0"/>
            <a:chExt cx="4639272" cy="95726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39270" cy="957260"/>
            </a:xfrm>
            <a:custGeom>
              <a:avLst/>
              <a:gdLst/>
              <a:ahLst/>
              <a:cxnLst/>
              <a:rect r="r" b="b" t="t" l="l"/>
              <a:pathLst>
                <a:path h="957260" w="4639270">
                  <a:moveTo>
                    <a:pt x="0" y="0"/>
                  </a:moveTo>
                  <a:lnTo>
                    <a:pt x="4639270" y="0"/>
                  </a:lnTo>
                  <a:lnTo>
                    <a:pt x="4639270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432" r="0" b="-4443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639272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 Código temporário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087100" y="6375797"/>
            <a:ext cx="2578446" cy="717946"/>
            <a:chOff x="0" y="0"/>
            <a:chExt cx="3437928" cy="95726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37931" cy="957260"/>
            </a:xfrm>
            <a:custGeom>
              <a:avLst/>
              <a:gdLst/>
              <a:ahLst/>
              <a:cxnLst/>
              <a:rect r="r" b="b" t="t" l="l"/>
              <a:pathLst>
                <a:path h="957260" w="3437931">
                  <a:moveTo>
                    <a:pt x="0" y="0"/>
                  </a:moveTo>
                  <a:lnTo>
                    <a:pt x="3437931" y="0"/>
                  </a:lnTo>
                  <a:lnTo>
                    <a:pt x="3437931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978" r="0" b="-1997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437928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 Envio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665546" y="6375797"/>
            <a:ext cx="3479454" cy="717946"/>
            <a:chOff x="0" y="0"/>
            <a:chExt cx="4639272" cy="95726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39270" cy="957260"/>
            </a:xfrm>
            <a:custGeom>
              <a:avLst/>
              <a:gdLst/>
              <a:ahLst/>
              <a:cxnLst/>
              <a:rect r="r" b="b" t="t" l="l"/>
              <a:pathLst>
                <a:path h="957260" w="4639270">
                  <a:moveTo>
                    <a:pt x="0" y="0"/>
                  </a:moveTo>
                  <a:lnTo>
                    <a:pt x="4639270" y="0"/>
                  </a:lnTo>
                  <a:lnTo>
                    <a:pt x="4639270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432" r="0" b="-4443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639272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 E-mail automático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087100" y="7093744"/>
            <a:ext cx="6057900" cy="717947"/>
            <a:chOff x="0" y="0"/>
            <a:chExt cx="8077200" cy="95726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077200" cy="957199"/>
            </a:xfrm>
            <a:custGeom>
              <a:avLst/>
              <a:gdLst/>
              <a:ahLst/>
              <a:cxnLst/>
              <a:rect r="r" b="b" t="t" l="l"/>
              <a:pathLst>
                <a:path h="957199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957199"/>
                  </a:lnTo>
                  <a:lnTo>
                    <a:pt x="0" y="957199"/>
                  </a:lnTo>
                  <a:close/>
                </a:path>
              </a:pathLst>
            </a:custGeom>
            <a:solidFill>
              <a:srgbClr val="0066FF">
                <a:alpha val="0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087100" y="7093744"/>
            <a:ext cx="2578446" cy="717946"/>
            <a:chOff x="0" y="0"/>
            <a:chExt cx="3437928" cy="95726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37931" cy="957260"/>
            </a:xfrm>
            <a:custGeom>
              <a:avLst/>
              <a:gdLst/>
              <a:ahLst/>
              <a:cxnLst/>
              <a:rect r="r" b="b" t="t" l="l"/>
              <a:pathLst>
                <a:path h="957260" w="3437931">
                  <a:moveTo>
                    <a:pt x="0" y="0"/>
                  </a:moveTo>
                  <a:lnTo>
                    <a:pt x="3437931" y="0"/>
                  </a:lnTo>
                  <a:lnTo>
                    <a:pt x="3437931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978" r="0" b="-1997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3437928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 Confirmação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665546" y="7093744"/>
            <a:ext cx="3479454" cy="717946"/>
            <a:chOff x="0" y="0"/>
            <a:chExt cx="4639272" cy="95726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639270" cy="957260"/>
            </a:xfrm>
            <a:custGeom>
              <a:avLst/>
              <a:gdLst/>
              <a:ahLst/>
              <a:cxnLst/>
              <a:rect r="r" b="b" t="t" l="l"/>
              <a:pathLst>
                <a:path h="957260" w="4639270">
                  <a:moveTo>
                    <a:pt x="0" y="0"/>
                  </a:moveTo>
                  <a:lnTo>
                    <a:pt x="4639270" y="0"/>
                  </a:lnTo>
                  <a:lnTo>
                    <a:pt x="4639270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432" r="0" b="-4443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639272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 Acesso liberado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595" t="-34942" r="-37877" b="-98082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300162" y="3501628"/>
            <a:ext cx="457200" cy="457200"/>
            <a:chOff x="0" y="0"/>
            <a:chExt cx="609600" cy="60960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64456" y="7352109"/>
            <a:ext cx="328613" cy="328613"/>
            <a:chOff x="0" y="0"/>
            <a:chExt cx="762000" cy="7620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00162" y="5416153"/>
            <a:ext cx="456605" cy="456605"/>
            <a:chOff x="0" y="0"/>
            <a:chExt cx="342900" cy="34290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777" r="0" b="-2777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595" t="-34942" r="-37877" b="-98082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4811" r="0" b="8239"/>
          <a:stretch>
            <a:fillRect/>
          </a:stretch>
        </p:blipFill>
        <p:spPr>
          <a:xfrm flipH="false" flipV="false" rot="0">
            <a:off x="735507" y="2200275"/>
            <a:ext cx="15688225" cy="7673002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43000" y="695325"/>
            <a:ext cx="17145000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Validação de E-mail</a:t>
            </a:r>
          </a:p>
          <a:p>
            <a:pPr algn="l">
              <a:lnSpc>
                <a:spcPts val="58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1703784"/>
            <a:ext cx="790902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Sitema de autenticação e segurança de acesso do usuário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695325"/>
            <a:ext cx="17145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Sistema de notificações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1703784"/>
            <a:ext cx="795203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Comunicação automática sobre movimentações da conta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00275" y="3358753"/>
            <a:ext cx="80295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Monitoramento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00275" y="3880247"/>
            <a:ext cx="8029575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Acompanhamento das ações realizadas pelo usuário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00275" y="5251847"/>
            <a:ext cx="80295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Envio automático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00275" y="5773341"/>
            <a:ext cx="8029575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Notificações enviadas após movimentações importantes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00275" y="7144941"/>
            <a:ext cx="80295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Transparência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00275" y="7666434"/>
            <a:ext cx="8029575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Maior controle e segurança das operações realizadas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87100" y="3349228"/>
            <a:ext cx="60579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Fluxo de verificação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087100" y="4161234"/>
            <a:ext cx="6057900" cy="3657600"/>
            <a:chOff x="0" y="0"/>
            <a:chExt cx="8077200" cy="4876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77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087100" y="4161234"/>
            <a:ext cx="2578446" cy="771526"/>
            <a:chOff x="0" y="0"/>
            <a:chExt cx="3437928" cy="10287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37931" cy="1028703"/>
            </a:xfrm>
            <a:custGeom>
              <a:avLst/>
              <a:gdLst/>
              <a:ahLst/>
              <a:cxnLst/>
              <a:rect r="r" b="b" t="t" l="l"/>
              <a:pathLst>
                <a:path h="1028703" w="3437931">
                  <a:moveTo>
                    <a:pt x="0" y="0"/>
                  </a:moveTo>
                  <a:lnTo>
                    <a:pt x="3437931" y="0"/>
                  </a:lnTo>
                  <a:lnTo>
                    <a:pt x="3437931" y="1028703"/>
                  </a:lnTo>
                  <a:lnTo>
                    <a:pt x="0" y="10287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19" r="0" b="-1511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437928" cy="1047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D50B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Evento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665546" y="4161234"/>
            <a:ext cx="3479454" cy="771526"/>
            <a:chOff x="0" y="0"/>
            <a:chExt cx="4639272" cy="10287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39270" cy="1028703"/>
            </a:xfrm>
            <a:custGeom>
              <a:avLst/>
              <a:gdLst/>
              <a:ahLst/>
              <a:cxnLst/>
              <a:rect r="r" b="b" t="t" l="l"/>
              <a:pathLst>
                <a:path h="1028703" w="4639270">
                  <a:moveTo>
                    <a:pt x="0" y="0"/>
                  </a:moveTo>
                  <a:lnTo>
                    <a:pt x="4639270" y="0"/>
                  </a:lnTo>
                  <a:lnTo>
                    <a:pt x="4639270" y="1028703"/>
                  </a:lnTo>
                  <a:lnTo>
                    <a:pt x="0" y="10287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874" r="0" b="-3787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639272" cy="1047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D50B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Ação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87100" y="4932759"/>
            <a:ext cx="2578446" cy="725090"/>
            <a:chOff x="0" y="0"/>
            <a:chExt cx="3437928" cy="9667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37931" cy="966786"/>
            </a:xfrm>
            <a:custGeom>
              <a:avLst/>
              <a:gdLst/>
              <a:ahLst/>
              <a:cxnLst/>
              <a:rect r="r" b="b" t="t" l="l"/>
              <a:pathLst>
                <a:path h="966786" w="3437931">
                  <a:moveTo>
                    <a:pt x="0" y="0"/>
                  </a:moveTo>
                  <a:lnTo>
                    <a:pt x="3437931" y="0"/>
                  </a:lnTo>
                  <a:lnTo>
                    <a:pt x="3437931" y="966786"/>
                  </a:lnTo>
                  <a:lnTo>
                    <a:pt x="0" y="9667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89" r="0" b="-1928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437928" cy="966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 Depósito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665546" y="4932759"/>
            <a:ext cx="3479454" cy="725090"/>
            <a:chOff x="0" y="0"/>
            <a:chExt cx="4639272" cy="96678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39270" cy="966786"/>
            </a:xfrm>
            <a:custGeom>
              <a:avLst/>
              <a:gdLst/>
              <a:ahLst/>
              <a:cxnLst/>
              <a:rect r="r" b="b" t="t" l="l"/>
              <a:pathLst>
                <a:path h="966786" w="4639270">
                  <a:moveTo>
                    <a:pt x="0" y="0"/>
                  </a:moveTo>
                  <a:lnTo>
                    <a:pt x="4639270" y="0"/>
                  </a:lnTo>
                  <a:lnTo>
                    <a:pt x="4639270" y="966786"/>
                  </a:lnTo>
                  <a:lnTo>
                    <a:pt x="0" y="9667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501" r="0" b="-4350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639272" cy="966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 Confirmação enviada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087100" y="5657850"/>
            <a:ext cx="6057900" cy="717947"/>
            <a:chOff x="0" y="0"/>
            <a:chExt cx="8077200" cy="95726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77200" cy="957199"/>
            </a:xfrm>
            <a:custGeom>
              <a:avLst/>
              <a:gdLst/>
              <a:ahLst/>
              <a:cxnLst/>
              <a:rect r="r" b="b" t="t" l="l"/>
              <a:pathLst>
                <a:path h="957199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957199"/>
                  </a:lnTo>
                  <a:lnTo>
                    <a:pt x="0" y="957199"/>
                  </a:lnTo>
                  <a:close/>
                </a:path>
              </a:pathLst>
            </a:custGeom>
            <a:solidFill>
              <a:srgbClr val="0066FF">
                <a:alpha val="0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087100" y="5657850"/>
            <a:ext cx="2578446" cy="717946"/>
            <a:chOff x="0" y="0"/>
            <a:chExt cx="3437928" cy="95726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37931" cy="957260"/>
            </a:xfrm>
            <a:custGeom>
              <a:avLst/>
              <a:gdLst/>
              <a:ahLst/>
              <a:cxnLst/>
              <a:rect r="r" b="b" t="t" l="l"/>
              <a:pathLst>
                <a:path h="957260" w="3437931">
                  <a:moveTo>
                    <a:pt x="0" y="0"/>
                  </a:moveTo>
                  <a:lnTo>
                    <a:pt x="3437931" y="0"/>
                  </a:lnTo>
                  <a:lnTo>
                    <a:pt x="3437931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978" r="0" b="-1997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437928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 Saque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665546" y="5657850"/>
            <a:ext cx="3479454" cy="717946"/>
            <a:chOff x="0" y="0"/>
            <a:chExt cx="4639272" cy="95726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39270" cy="957260"/>
            </a:xfrm>
            <a:custGeom>
              <a:avLst/>
              <a:gdLst/>
              <a:ahLst/>
              <a:cxnLst/>
              <a:rect r="r" b="b" t="t" l="l"/>
              <a:pathLst>
                <a:path h="957260" w="4639270">
                  <a:moveTo>
                    <a:pt x="0" y="0"/>
                  </a:moveTo>
                  <a:lnTo>
                    <a:pt x="4639270" y="0"/>
                  </a:lnTo>
                  <a:lnTo>
                    <a:pt x="4639270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432" r="0" b="-4443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639272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 Notificação automática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087100" y="6375797"/>
            <a:ext cx="2578446" cy="717946"/>
            <a:chOff x="0" y="0"/>
            <a:chExt cx="3437928" cy="95726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37931" cy="957260"/>
            </a:xfrm>
            <a:custGeom>
              <a:avLst/>
              <a:gdLst/>
              <a:ahLst/>
              <a:cxnLst/>
              <a:rect r="r" b="b" t="t" l="l"/>
              <a:pathLst>
                <a:path h="957260" w="3437931">
                  <a:moveTo>
                    <a:pt x="0" y="0"/>
                  </a:moveTo>
                  <a:lnTo>
                    <a:pt x="3437931" y="0"/>
                  </a:lnTo>
                  <a:lnTo>
                    <a:pt x="3437931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978" r="0" b="-1997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437928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 Trasnferência 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665546" y="6375797"/>
            <a:ext cx="3479454" cy="717946"/>
            <a:chOff x="0" y="0"/>
            <a:chExt cx="4639272" cy="95726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39270" cy="957260"/>
            </a:xfrm>
            <a:custGeom>
              <a:avLst/>
              <a:gdLst/>
              <a:ahLst/>
              <a:cxnLst/>
              <a:rect r="r" b="b" t="t" l="l"/>
              <a:pathLst>
                <a:path h="957260" w="4639270">
                  <a:moveTo>
                    <a:pt x="0" y="0"/>
                  </a:moveTo>
                  <a:lnTo>
                    <a:pt x="4639270" y="0"/>
                  </a:lnTo>
                  <a:lnTo>
                    <a:pt x="4639270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432" r="0" b="-4443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639272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 Dados da operação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087100" y="7093744"/>
            <a:ext cx="6057900" cy="717947"/>
            <a:chOff x="0" y="0"/>
            <a:chExt cx="8077200" cy="95726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077200" cy="957199"/>
            </a:xfrm>
            <a:custGeom>
              <a:avLst/>
              <a:gdLst/>
              <a:ahLst/>
              <a:cxnLst/>
              <a:rect r="r" b="b" t="t" l="l"/>
              <a:pathLst>
                <a:path h="957199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957199"/>
                  </a:lnTo>
                  <a:lnTo>
                    <a:pt x="0" y="957199"/>
                  </a:lnTo>
                  <a:close/>
                </a:path>
              </a:pathLst>
            </a:custGeom>
            <a:solidFill>
              <a:srgbClr val="0066FF">
                <a:alpha val="0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087100" y="7093744"/>
            <a:ext cx="2578446" cy="717946"/>
            <a:chOff x="0" y="0"/>
            <a:chExt cx="3437928" cy="95726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37931" cy="957260"/>
            </a:xfrm>
            <a:custGeom>
              <a:avLst/>
              <a:gdLst/>
              <a:ahLst/>
              <a:cxnLst/>
              <a:rect r="r" b="b" t="t" l="l"/>
              <a:pathLst>
                <a:path h="957260" w="3437931">
                  <a:moveTo>
                    <a:pt x="0" y="0"/>
                  </a:moveTo>
                  <a:lnTo>
                    <a:pt x="3437931" y="0"/>
                  </a:lnTo>
                  <a:lnTo>
                    <a:pt x="3437931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978" r="0" b="-1997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3437928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 Compra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665546" y="7093744"/>
            <a:ext cx="3479454" cy="717946"/>
            <a:chOff x="0" y="0"/>
            <a:chExt cx="4639272" cy="95726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639270" cy="957260"/>
            </a:xfrm>
            <a:custGeom>
              <a:avLst/>
              <a:gdLst/>
              <a:ahLst/>
              <a:cxnLst/>
              <a:rect r="r" b="b" t="t" l="l"/>
              <a:pathLst>
                <a:path h="957260" w="4639270">
                  <a:moveTo>
                    <a:pt x="0" y="0"/>
                  </a:moveTo>
                  <a:lnTo>
                    <a:pt x="4639270" y="0"/>
                  </a:lnTo>
                  <a:lnTo>
                    <a:pt x="4639270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432" r="0" b="-4443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639272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 Confirmação da operação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595" t="-34942" r="-37877" b="-98082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300162" y="5416153"/>
            <a:ext cx="456605" cy="456605"/>
            <a:chOff x="0" y="0"/>
            <a:chExt cx="342900" cy="34290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777" r="0" b="-2777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28738" y="7330083"/>
            <a:ext cx="428625" cy="342900"/>
            <a:chOff x="0" y="0"/>
            <a:chExt cx="571500" cy="4572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00162" y="3503724"/>
            <a:ext cx="455104" cy="455104"/>
            <a:chOff x="0" y="0"/>
            <a:chExt cx="762000" cy="76200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595" t="-34942" r="-37877" b="-98082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5312" r="0" b="8114"/>
          <a:stretch>
            <a:fillRect/>
          </a:stretch>
        </p:blipFill>
        <p:spPr>
          <a:xfrm flipH="false" flipV="false" rot="0">
            <a:off x="296771" y="2207018"/>
            <a:ext cx="16063635" cy="782253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43000" y="695325"/>
            <a:ext cx="17145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Sistema de notificações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1703784"/>
            <a:ext cx="795203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Comunicação automática sobre movimentações da conta  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695325"/>
            <a:ext cx="17145000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N</a:t>
            </a:r>
            <a:r>
              <a:rPr lang="en-US" sz="4899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extCoins</a:t>
            </a:r>
          </a:p>
          <a:p>
            <a:pPr algn="l">
              <a:lnSpc>
                <a:spcPts val="588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1703784"/>
            <a:ext cx="818212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Siste</a:t>
            </a:r>
            <a:r>
              <a:rPr lang="en-US" sz="23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ma de fidelização e gamificação integrado à plataforma</a:t>
            </a:r>
          </a:p>
          <a:p>
            <a:pPr algn="l">
              <a:lnSpc>
                <a:spcPts val="276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385888" y="3611166"/>
            <a:ext cx="285750" cy="285750"/>
            <a:chOff x="0" y="0"/>
            <a:chExt cx="381000" cy="381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00" r="0" b="-250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200275" y="3358753"/>
            <a:ext cx="8029575" cy="44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Progressão de Níveis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00275" y="3880247"/>
            <a:ext cx="8029575" cy="59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Sistema automático que promove o cliente conforme o acúmulo de pontos, desbloqueando descontos exclusivos.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21606" y="5504259"/>
            <a:ext cx="214312" cy="285750"/>
            <a:chOff x="0" y="0"/>
            <a:chExt cx="285750" cy="3810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85750" cy="381000"/>
            </a:xfrm>
            <a:custGeom>
              <a:avLst/>
              <a:gdLst/>
              <a:ahLst/>
              <a:cxnLst/>
              <a:rect r="r" b="b" t="t" l="l"/>
              <a:pathLst>
                <a:path h="3810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80" t="0" r="-1284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200275" y="5251847"/>
            <a:ext cx="80295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Conv</a:t>
            </a: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ersão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00275" y="5773341"/>
            <a:ext cx="8029575" cy="59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NextCoin = R$ 0,10 de desconto em compras futuras</a:t>
            </a:r>
          </a:p>
          <a:p>
            <a:pPr algn="l">
              <a:lnSpc>
                <a:spcPts val="2448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385888" y="7397353"/>
            <a:ext cx="285750" cy="285750"/>
            <a:chOff x="0" y="0"/>
            <a:chExt cx="381000" cy="381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500" r="0" b="-250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200275" y="7144941"/>
            <a:ext cx="80295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</a:t>
            </a: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gressivo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00275" y="7666434"/>
            <a:ext cx="8029575" cy="59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Qua</a:t>
            </a: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nto maior o nível, maior o cashback e os descontos</a:t>
            </a:r>
          </a:p>
          <a:p>
            <a:pPr algn="l">
              <a:lnSpc>
                <a:spcPts val="2448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087100" y="3349228"/>
            <a:ext cx="60579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Jornada de Fidelidade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087100" y="4161234"/>
            <a:ext cx="6057900" cy="3657600"/>
            <a:chOff x="0" y="0"/>
            <a:chExt cx="8077200" cy="4876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77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087100" y="4161234"/>
            <a:ext cx="2578446" cy="771525"/>
            <a:chOff x="0" y="0"/>
            <a:chExt cx="3437928" cy="1028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37931" cy="1028701"/>
            </a:xfrm>
            <a:custGeom>
              <a:avLst/>
              <a:gdLst/>
              <a:ahLst/>
              <a:cxnLst/>
              <a:rect r="r" b="b" t="t" l="l"/>
              <a:pathLst>
                <a:path h="1028701" w="3437931">
                  <a:moveTo>
                    <a:pt x="0" y="0"/>
                  </a:moveTo>
                  <a:lnTo>
                    <a:pt x="3437931" y="0"/>
                  </a:lnTo>
                  <a:lnTo>
                    <a:pt x="3437931" y="1028701"/>
                  </a:lnTo>
                  <a:lnTo>
                    <a:pt x="0" y="10287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119" r="0" b="-1511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437928" cy="1047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D50B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Nível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665546" y="4161234"/>
            <a:ext cx="3479454" cy="771526"/>
            <a:chOff x="0" y="0"/>
            <a:chExt cx="4639272" cy="10287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39270" cy="1028703"/>
            </a:xfrm>
            <a:custGeom>
              <a:avLst/>
              <a:gdLst/>
              <a:ahLst/>
              <a:cxnLst/>
              <a:rect r="r" b="b" t="t" l="l"/>
              <a:pathLst>
                <a:path h="1028703" w="4639270">
                  <a:moveTo>
                    <a:pt x="0" y="0"/>
                  </a:moveTo>
                  <a:lnTo>
                    <a:pt x="4639270" y="0"/>
                  </a:lnTo>
                  <a:lnTo>
                    <a:pt x="4639270" y="1028703"/>
                  </a:lnTo>
                  <a:lnTo>
                    <a:pt x="0" y="102870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874" r="0" b="-3787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639272" cy="1047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D50B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Objetivo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087100" y="4932759"/>
            <a:ext cx="2578446" cy="725090"/>
            <a:chOff x="0" y="0"/>
            <a:chExt cx="3437928" cy="96678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37931" cy="966786"/>
            </a:xfrm>
            <a:custGeom>
              <a:avLst/>
              <a:gdLst/>
              <a:ahLst/>
              <a:cxnLst/>
              <a:rect r="r" b="b" t="t" l="l"/>
              <a:pathLst>
                <a:path h="966786" w="3437931">
                  <a:moveTo>
                    <a:pt x="0" y="0"/>
                  </a:moveTo>
                  <a:lnTo>
                    <a:pt x="3437931" y="0"/>
                  </a:lnTo>
                  <a:lnTo>
                    <a:pt x="3437931" y="966786"/>
                  </a:lnTo>
                  <a:lnTo>
                    <a:pt x="0" y="96678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289" r="0" b="-1928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437928" cy="966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🥉 </a:t>
              </a: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Bronze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665546" y="4932759"/>
            <a:ext cx="3479454" cy="725090"/>
            <a:chOff x="0" y="0"/>
            <a:chExt cx="4639272" cy="96678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639270" cy="966786"/>
            </a:xfrm>
            <a:custGeom>
              <a:avLst/>
              <a:gdLst/>
              <a:ahLst/>
              <a:cxnLst/>
              <a:rect r="r" b="b" t="t" l="l"/>
              <a:pathLst>
                <a:path h="966786" w="4639270">
                  <a:moveTo>
                    <a:pt x="0" y="0"/>
                  </a:moveTo>
                  <a:lnTo>
                    <a:pt x="4639270" y="0"/>
                  </a:lnTo>
                  <a:lnTo>
                    <a:pt x="4639270" y="966786"/>
                  </a:lnTo>
                  <a:lnTo>
                    <a:pt x="0" y="96678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501" r="0" b="-4350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4639272" cy="966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Inicia</a:t>
              </a: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automaticamente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087100" y="5657850"/>
            <a:ext cx="6057900" cy="717947"/>
            <a:chOff x="0" y="0"/>
            <a:chExt cx="8077200" cy="95726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077200" cy="957199"/>
            </a:xfrm>
            <a:custGeom>
              <a:avLst/>
              <a:gdLst/>
              <a:ahLst/>
              <a:cxnLst/>
              <a:rect r="r" b="b" t="t" l="l"/>
              <a:pathLst>
                <a:path h="957199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957199"/>
                  </a:lnTo>
                  <a:lnTo>
                    <a:pt x="0" y="957199"/>
                  </a:lnTo>
                  <a:close/>
                </a:path>
              </a:pathLst>
            </a:custGeom>
            <a:solidFill>
              <a:srgbClr val="0066FF">
                <a:alpha val="0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087100" y="5657850"/>
            <a:ext cx="2578446" cy="717946"/>
            <a:chOff x="0" y="0"/>
            <a:chExt cx="3437928" cy="95726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37931" cy="957260"/>
            </a:xfrm>
            <a:custGeom>
              <a:avLst/>
              <a:gdLst/>
              <a:ahLst/>
              <a:cxnLst/>
              <a:rect r="r" b="b" t="t" l="l"/>
              <a:pathLst>
                <a:path h="957260" w="3437931">
                  <a:moveTo>
                    <a:pt x="0" y="0"/>
                  </a:moveTo>
                  <a:lnTo>
                    <a:pt x="3437931" y="0"/>
                  </a:lnTo>
                  <a:lnTo>
                    <a:pt x="3437931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978" r="0" b="-1997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437928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🥈 </a:t>
              </a: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Prata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665546" y="5657850"/>
            <a:ext cx="3479454" cy="717946"/>
            <a:chOff x="0" y="0"/>
            <a:chExt cx="4639272" cy="95726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39270" cy="957260"/>
            </a:xfrm>
            <a:custGeom>
              <a:avLst/>
              <a:gdLst/>
              <a:ahLst/>
              <a:cxnLst/>
              <a:rect r="r" b="b" t="t" l="l"/>
              <a:pathLst>
                <a:path h="957260" w="4639270">
                  <a:moveTo>
                    <a:pt x="0" y="0"/>
                  </a:moveTo>
                  <a:lnTo>
                    <a:pt x="4639270" y="0"/>
                  </a:lnTo>
                  <a:lnTo>
                    <a:pt x="4639270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4432" r="0" b="-4443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639272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5 + Compras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087100" y="6375797"/>
            <a:ext cx="2578446" cy="717946"/>
            <a:chOff x="0" y="0"/>
            <a:chExt cx="3437928" cy="95726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37931" cy="957260"/>
            </a:xfrm>
            <a:custGeom>
              <a:avLst/>
              <a:gdLst/>
              <a:ahLst/>
              <a:cxnLst/>
              <a:rect r="r" b="b" t="t" l="l"/>
              <a:pathLst>
                <a:path h="957260" w="3437931">
                  <a:moveTo>
                    <a:pt x="0" y="0"/>
                  </a:moveTo>
                  <a:lnTo>
                    <a:pt x="3437931" y="0"/>
                  </a:lnTo>
                  <a:lnTo>
                    <a:pt x="3437931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978" r="0" b="-1997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437928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🥇 </a:t>
              </a: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Ouro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665546" y="6375797"/>
            <a:ext cx="3479454" cy="717946"/>
            <a:chOff x="0" y="0"/>
            <a:chExt cx="4639272" cy="95726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639270" cy="957260"/>
            </a:xfrm>
            <a:custGeom>
              <a:avLst/>
              <a:gdLst/>
              <a:ahLst/>
              <a:cxnLst/>
              <a:rect r="r" b="b" t="t" l="l"/>
              <a:pathLst>
                <a:path h="957260" w="4639270">
                  <a:moveTo>
                    <a:pt x="0" y="0"/>
                  </a:moveTo>
                  <a:lnTo>
                    <a:pt x="4639270" y="0"/>
                  </a:lnTo>
                  <a:lnTo>
                    <a:pt x="4639270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4432" r="0" b="-4443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639272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10 + Compras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087100" y="7093744"/>
            <a:ext cx="6057900" cy="717947"/>
            <a:chOff x="0" y="0"/>
            <a:chExt cx="8077200" cy="95726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077200" cy="957199"/>
            </a:xfrm>
            <a:custGeom>
              <a:avLst/>
              <a:gdLst/>
              <a:ahLst/>
              <a:cxnLst/>
              <a:rect r="r" b="b" t="t" l="l"/>
              <a:pathLst>
                <a:path h="957199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957199"/>
                  </a:lnTo>
                  <a:lnTo>
                    <a:pt x="0" y="957199"/>
                  </a:lnTo>
                  <a:close/>
                </a:path>
              </a:pathLst>
            </a:custGeom>
            <a:solidFill>
              <a:srgbClr val="0066FF">
                <a:alpha val="0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087100" y="7093744"/>
            <a:ext cx="2578446" cy="717946"/>
            <a:chOff x="0" y="0"/>
            <a:chExt cx="3437928" cy="95726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437931" cy="957260"/>
            </a:xfrm>
            <a:custGeom>
              <a:avLst/>
              <a:gdLst/>
              <a:ahLst/>
              <a:cxnLst/>
              <a:rect r="r" b="b" t="t" l="l"/>
              <a:pathLst>
                <a:path h="957260" w="3437931">
                  <a:moveTo>
                    <a:pt x="0" y="0"/>
                  </a:moveTo>
                  <a:lnTo>
                    <a:pt x="3437931" y="0"/>
                  </a:lnTo>
                  <a:lnTo>
                    <a:pt x="3437931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978" r="0" b="-1997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437928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💎</a:t>
              </a: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Diamante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665546" y="7093744"/>
            <a:ext cx="3479454" cy="717946"/>
            <a:chOff x="0" y="0"/>
            <a:chExt cx="4639272" cy="95726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639270" cy="957260"/>
            </a:xfrm>
            <a:custGeom>
              <a:avLst/>
              <a:gdLst/>
              <a:ahLst/>
              <a:cxnLst/>
              <a:rect r="r" b="b" t="t" l="l"/>
              <a:pathLst>
                <a:path h="957260" w="4639270">
                  <a:moveTo>
                    <a:pt x="0" y="0"/>
                  </a:moveTo>
                  <a:lnTo>
                    <a:pt x="4639270" y="0"/>
                  </a:lnTo>
                  <a:lnTo>
                    <a:pt x="4639270" y="957260"/>
                  </a:lnTo>
                  <a:lnTo>
                    <a:pt x="0" y="9572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4432" r="0" b="-4443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639272" cy="957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20 + Compras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5595" t="-34942" r="-37877" b="-98082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595" t="-34942" r="-37877" b="-98082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327" r="0" b="327"/>
          <a:stretch>
            <a:fillRect/>
          </a:stretch>
        </p:blipFill>
        <p:spPr>
          <a:xfrm flipH="false" flipV="false" rot="0">
            <a:off x="2331639" y="2043218"/>
            <a:ext cx="14220079" cy="7946428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43000" y="695325"/>
            <a:ext cx="17145000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N</a:t>
            </a:r>
            <a:r>
              <a:rPr lang="en-US" sz="4899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extCoins</a:t>
            </a:r>
          </a:p>
          <a:p>
            <a:pPr algn="l">
              <a:lnSpc>
                <a:spcPts val="58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1703784"/>
            <a:ext cx="818212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Siste</a:t>
            </a:r>
            <a:r>
              <a:rPr lang="en-US" sz="23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ma de fidelização e gamificação integrado à plataforma</a:t>
            </a:r>
          </a:p>
          <a:p>
            <a:pPr algn="l">
              <a:lnSpc>
                <a:spcPts val="2760"/>
              </a:lnSpc>
            </a:pP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695325"/>
            <a:ext cx="17145000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G</a:t>
            </a:r>
            <a:r>
              <a:rPr lang="en-US" sz="4899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eração de PDFs</a:t>
            </a:r>
          </a:p>
          <a:p>
            <a:pPr algn="l">
              <a:lnSpc>
                <a:spcPts val="588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1703784"/>
            <a:ext cx="825832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Extr</a:t>
            </a:r>
            <a:r>
              <a:rPr lang="en-US" sz="23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atos e relatórios profissionais para clientes e vendedores</a:t>
            </a:r>
          </a:p>
          <a:p>
            <a:pPr algn="l">
              <a:lnSpc>
                <a:spcPts val="276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595" t="-34942" r="-37877" b="-9808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43000" y="2634310"/>
            <a:ext cx="5048231" cy="5486400"/>
            <a:chOff x="0" y="0"/>
            <a:chExt cx="6730975" cy="731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310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43000" y="2634310"/>
            <a:ext cx="5048231" cy="57150"/>
            <a:chOff x="0" y="0"/>
            <a:chExt cx="6730975" cy="7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31000" cy="76200"/>
            </a:xfrm>
            <a:custGeom>
              <a:avLst/>
              <a:gdLst/>
              <a:ahLst/>
              <a:cxnLst/>
              <a:rect r="r" b="b" t="t" l="l"/>
              <a:pathLst>
                <a:path h="762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66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00188" y="3248673"/>
            <a:ext cx="342900" cy="457200"/>
            <a:chOff x="0" y="0"/>
            <a:chExt cx="457200" cy="6096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62" r="0" b="-156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19856" y="2634310"/>
            <a:ext cx="5048231" cy="5486400"/>
            <a:chOff x="0" y="0"/>
            <a:chExt cx="6730975" cy="7315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310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619856" y="2634310"/>
            <a:ext cx="5048231" cy="57150"/>
            <a:chOff x="0" y="0"/>
            <a:chExt cx="6730975" cy="76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31000" cy="76200"/>
            </a:xfrm>
            <a:custGeom>
              <a:avLst/>
              <a:gdLst/>
              <a:ahLst/>
              <a:cxnLst/>
              <a:rect r="r" b="b" t="t" l="l"/>
              <a:pathLst>
                <a:path h="762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50B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977043" y="3248673"/>
            <a:ext cx="457200" cy="457200"/>
            <a:chOff x="0" y="0"/>
            <a:chExt cx="609600" cy="6096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977072" y="4635341"/>
            <a:ext cx="4333856" cy="9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odas as transações organizadas e exportáveis</a:t>
            </a:r>
          </a:p>
          <a:p>
            <a:pPr algn="l">
              <a:lnSpc>
                <a:spcPts val="2611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2096712" y="2634310"/>
            <a:ext cx="5048288" cy="5486400"/>
            <a:chOff x="0" y="0"/>
            <a:chExt cx="6731051" cy="7315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310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96712" y="2634310"/>
            <a:ext cx="5048288" cy="57150"/>
            <a:chOff x="0" y="0"/>
            <a:chExt cx="6731051" cy="76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31000" cy="76200"/>
            </a:xfrm>
            <a:custGeom>
              <a:avLst/>
              <a:gdLst/>
              <a:ahLst/>
              <a:cxnLst/>
              <a:rect r="r" b="b" t="t" l="l"/>
              <a:pathLst>
                <a:path h="762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66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43000" y="5410524"/>
            <a:ext cx="5048231" cy="57150"/>
            <a:chOff x="0" y="0"/>
            <a:chExt cx="6730975" cy="76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31000" cy="76200"/>
            </a:xfrm>
            <a:custGeom>
              <a:avLst/>
              <a:gdLst/>
              <a:ahLst/>
              <a:cxnLst/>
              <a:rect r="r" b="b" t="t" l="l"/>
              <a:pathLst>
                <a:path h="762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66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619856" y="5410524"/>
            <a:ext cx="5048231" cy="57150"/>
            <a:chOff x="0" y="0"/>
            <a:chExt cx="6730975" cy="76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31000" cy="76200"/>
            </a:xfrm>
            <a:custGeom>
              <a:avLst/>
              <a:gdLst/>
              <a:ahLst/>
              <a:cxnLst/>
              <a:rect r="r" b="b" t="t" l="l"/>
              <a:pathLst>
                <a:path h="762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50B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096712" y="5410524"/>
            <a:ext cx="5048288" cy="57150"/>
            <a:chOff x="0" y="0"/>
            <a:chExt cx="6731051" cy="76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31000" cy="76200"/>
            </a:xfrm>
            <a:custGeom>
              <a:avLst/>
              <a:gdLst/>
              <a:ahLst/>
              <a:cxnLst/>
              <a:rect r="r" b="b" t="t" l="l"/>
              <a:pathLst>
                <a:path h="762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66FF"/>
            </a:solid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12398804" y="3052220"/>
            <a:ext cx="474196" cy="653653"/>
          </a:xfrm>
          <a:custGeom>
            <a:avLst/>
            <a:gdLst/>
            <a:ahLst/>
            <a:cxnLst/>
            <a:rect r="r" b="b" t="t" l="l"/>
            <a:pathLst>
              <a:path h="653653" w="474196">
                <a:moveTo>
                  <a:pt x="0" y="0"/>
                </a:moveTo>
                <a:lnTo>
                  <a:pt x="474195" y="0"/>
                </a:lnTo>
                <a:lnTo>
                  <a:pt x="474195" y="653653"/>
                </a:lnTo>
                <a:lnTo>
                  <a:pt x="0" y="6536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28117" y="6029649"/>
            <a:ext cx="331342" cy="421848"/>
          </a:xfrm>
          <a:custGeom>
            <a:avLst/>
            <a:gdLst/>
            <a:ahLst/>
            <a:cxnLst/>
            <a:rect r="r" b="b" t="t" l="l"/>
            <a:pathLst>
              <a:path h="421848" w="331342">
                <a:moveTo>
                  <a:pt x="0" y="0"/>
                </a:moveTo>
                <a:lnTo>
                  <a:pt x="331342" y="0"/>
                </a:lnTo>
                <a:lnTo>
                  <a:pt x="331342" y="421848"/>
                </a:lnTo>
                <a:lnTo>
                  <a:pt x="0" y="4218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972281" y="6029649"/>
            <a:ext cx="681519" cy="525390"/>
          </a:xfrm>
          <a:custGeom>
            <a:avLst/>
            <a:gdLst/>
            <a:ahLst/>
            <a:cxnLst/>
            <a:rect r="r" b="b" t="t" l="l"/>
            <a:pathLst>
              <a:path h="525390" w="681519">
                <a:moveTo>
                  <a:pt x="0" y="0"/>
                </a:moveTo>
                <a:lnTo>
                  <a:pt x="681519" y="0"/>
                </a:lnTo>
                <a:lnTo>
                  <a:pt x="681519" y="525390"/>
                </a:lnTo>
                <a:lnTo>
                  <a:pt x="0" y="5253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398804" y="6010437"/>
            <a:ext cx="617685" cy="460272"/>
          </a:xfrm>
          <a:custGeom>
            <a:avLst/>
            <a:gdLst/>
            <a:ahLst/>
            <a:cxnLst/>
            <a:rect r="r" b="b" t="t" l="l"/>
            <a:pathLst>
              <a:path h="460272" w="617685">
                <a:moveTo>
                  <a:pt x="0" y="0"/>
                </a:moveTo>
                <a:lnTo>
                  <a:pt x="617685" y="0"/>
                </a:lnTo>
                <a:lnTo>
                  <a:pt x="617685" y="460272"/>
                </a:lnTo>
                <a:lnTo>
                  <a:pt x="0" y="4602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500188" y="4035676"/>
            <a:ext cx="43338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Ext</a:t>
            </a: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rato Bancário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95425" y="4635341"/>
            <a:ext cx="4333856" cy="632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istórico financeiro completo em PDF</a:t>
            </a:r>
          </a:p>
          <a:p>
            <a:pPr algn="l">
              <a:lnSpc>
                <a:spcPts val="2611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6977043" y="4035676"/>
            <a:ext cx="43338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</a:t>
            </a: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istórico de Compras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53899" y="4035676"/>
            <a:ext cx="4333913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</a:t>
            </a: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latório de Vendas</a:t>
            </a: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2453899" y="4635341"/>
            <a:ext cx="4333913" cy="632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Desempenho consolidado da loja</a:t>
            </a:r>
          </a:p>
          <a:p>
            <a:pPr algn="l">
              <a:lnSpc>
                <a:spcPts val="2611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428117" y="6816652"/>
            <a:ext cx="43338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Ext</a:t>
            </a: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rato Financeiro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23354" y="7416318"/>
            <a:ext cx="4333856" cy="632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isão clara das entradas e saídas da loja</a:t>
            </a:r>
          </a:p>
          <a:p>
            <a:pPr algn="l">
              <a:lnSpc>
                <a:spcPts val="2611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6977043" y="6816652"/>
            <a:ext cx="43338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Fácil A</a:t>
            </a: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rmazenamento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72281" y="7416318"/>
            <a:ext cx="4333856" cy="632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Con</a:t>
            </a: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sulta e guarda sem complicação</a:t>
            </a:r>
          </a:p>
          <a:p>
            <a:pPr algn="l">
              <a:lnSpc>
                <a:spcPts val="2611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2453899" y="6816652"/>
            <a:ext cx="43338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</a:t>
            </a: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rofissionalismo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98804" y="7416318"/>
            <a:ext cx="4333856" cy="9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Expe</a:t>
            </a: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riência polida e confiável para todos os usuários</a:t>
            </a:r>
          </a:p>
          <a:p>
            <a:pPr algn="l">
              <a:lnSpc>
                <a:spcPts val="2611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595" t="-34942" r="-37877" b="-98082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2876123" y="1889832"/>
            <a:ext cx="14630400" cy="82296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43000" y="695325"/>
            <a:ext cx="17145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G</a:t>
            </a:r>
            <a:r>
              <a:rPr lang="en-US" sz="4899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eração de PDFs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1703784"/>
            <a:ext cx="825832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Extr</a:t>
            </a:r>
            <a:r>
              <a:rPr lang="en-US" sz="23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atos e relatórios profissionais para clientes e vendedores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85594" y="732234"/>
            <a:ext cx="17145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900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Assistente Virtual  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5594" y="1884759"/>
            <a:ext cx="17145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Fun</a:t>
            </a:r>
            <a:r>
              <a:rPr lang="en-US" sz="2499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cionalidade do Assistente Virtual do NextPay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28625" y="2628857"/>
            <a:ext cx="5048231" cy="7111732"/>
            <a:chOff x="0" y="0"/>
            <a:chExt cx="6730975" cy="94823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31000" cy="9482309"/>
            </a:xfrm>
            <a:custGeom>
              <a:avLst/>
              <a:gdLst/>
              <a:ahLst/>
              <a:cxnLst/>
              <a:rect r="r" b="b" t="t" l="l"/>
              <a:pathLst>
                <a:path h="9482309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9482309"/>
                  </a:lnTo>
                  <a:lnTo>
                    <a:pt x="0" y="94823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28625" y="2831306"/>
            <a:ext cx="5048231" cy="57150"/>
            <a:chOff x="0" y="0"/>
            <a:chExt cx="6730975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31000" cy="76200"/>
            </a:xfrm>
            <a:custGeom>
              <a:avLst/>
              <a:gdLst/>
              <a:ahLst/>
              <a:cxnLst/>
              <a:rect r="r" b="b" t="t" l="l"/>
              <a:pathLst>
                <a:path h="762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66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61988" y="3136106"/>
            <a:ext cx="4333856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</a:t>
            </a: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rquitetura e Stack Tecnológica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1494" y="4174331"/>
            <a:ext cx="4333856" cy="354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1" indent="-183515" lvl="1">
              <a:lnSpc>
                <a:spcPts val="2611"/>
              </a:lnSpc>
              <a:buFont typeface="Arial"/>
              <a:buChar char="•"/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Mode</a:t>
            </a: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lo de Linguagem (LLM):  Gemini 2.5 Flash (gemini-2.5-flash);</a:t>
            </a:r>
          </a:p>
          <a:p>
            <a:pPr algn="l" marL="367031" indent="-183515" lvl="1">
              <a:lnSpc>
                <a:spcPts val="2611"/>
              </a:lnSpc>
              <a:buFont typeface="Arial"/>
              <a:buChar char="•"/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Técnica de Engenharia de Prompt: Implementação de uma interface declarativa (AssistenteRegrasNegocio) utilizando a anotação @SystemMessage, que atua como o moderador comportamental do agente de IA, impondo limites rígidos de atuação. </a:t>
            </a:r>
          </a:p>
          <a:p>
            <a:pPr algn="l">
              <a:lnSpc>
                <a:spcPts val="2611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5988825" y="2638382"/>
            <a:ext cx="5048231" cy="7111732"/>
            <a:chOff x="0" y="0"/>
            <a:chExt cx="6730975" cy="94823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31000" cy="9482309"/>
            </a:xfrm>
            <a:custGeom>
              <a:avLst/>
              <a:gdLst/>
              <a:ahLst/>
              <a:cxnLst/>
              <a:rect r="r" b="b" t="t" l="l"/>
              <a:pathLst>
                <a:path h="9482309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9482309"/>
                  </a:lnTo>
                  <a:lnTo>
                    <a:pt x="0" y="94823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988825" y="2831306"/>
            <a:ext cx="5048231" cy="57150"/>
            <a:chOff x="0" y="0"/>
            <a:chExt cx="6730975" cy="7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31000" cy="76200"/>
            </a:xfrm>
            <a:custGeom>
              <a:avLst/>
              <a:gdLst/>
              <a:ahLst/>
              <a:cxnLst/>
              <a:rect r="r" b="b" t="t" l="l"/>
              <a:pathLst>
                <a:path h="762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50B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307912" y="3136106"/>
            <a:ext cx="4333856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Mecan</a:t>
            </a: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ismo de RAG (Retrieval-Augmented Generation)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07912" y="4613034"/>
            <a:ext cx="4333856" cy="192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Pa</a:t>
            </a: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ra evitar que a IA invente informações (alucinações) e garantir que ela responda estritamente sobre as regras de negócio reais do NextPay, a arquitetura utiliza o padrão RAG (Geração Aumentada de Recuperação).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619460" y="2831306"/>
            <a:ext cx="6132963" cy="7014058"/>
            <a:chOff x="0" y="0"/>
            <a:chExt cx="8177284" cy="935207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77223" cy="9352076"/>
            </a:xfrm>
            <a:custGeom>
              <a:avLst/>
              <a:gdLst/>
              <a:ahLst/>
              <a:cxnLst/>
              <a:rect r="r" b="b" t="t" l="l"/>
              <a:pathLst>
                <a:path h="9352076" w="8177223">
                  <a:moveTo>
                    <a:pt x="0" y="0"/>
                  </a:moveTo>
                  <a:lnTo>
                    <a:pt x="8177223" y="0"/>
                  </a:lnTo>
                  <a:lnTo>
                    <a:pt x="8177223" y="9352076"/>
                  </a:lnTo>
                  <a:lnTo>
                    <a:pt x="0" y="935207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19460" y="2829214"/>
            <a:ext cx="6132963" cy="57858"/>
            <a:chOff x="0" y="0"/>
            <a:chExt cx="6731051" cy="63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31000" cy="63500"/>
            </a:xfrm>
            <a:custGeom>
              <a:avLst/>
              <a:gdLst/>
              <a:ahLst/>
              <a:cxnLst/>
              <a:rect r="r" b="b" t="t" l="l"/>
              <a:pathLst>
                <a:path h="635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066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875256" y="3088481"/>
            <a:ext cx="433391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</a:t>
            </a: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luxo de Execução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65731" y="3602831"/>
            <a:ext cx="5664863" cy="581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Camada de proteção em todos os DTOs de entrada, impedindo dados inconsistentes ou malformados de atingirem o core do sistema.</a:t>
            </a:r>
          </a:p>
          <a:p>
            <a:pPr algn="l" marL="367031" indent="-183515" lvl="1">
              <a:lnSpc>
                <a:spcPts val="2611"/>
              </a:lnSpc>
              <a:buAutoNum type="arabicPeriod" startAt="1"/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Exposição do Endpoint: O AjudaController expõe um endpoint público para integração com o Front-end. </a:t>
            </a:r>
          </a:p>
          <a:p>
            <a:pPr algn="l" marL="367031" indent="-183515" lvl="1">
              <a:lnSpc>
                <a:spcPts val="2611"/>
              </a:lnSpc>
              <a:buAutoNum type="arabicPeriod" startAt="1"/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Payload de Entrada: O controlador recebe uma estrutura em formato JSON contendo a chave pergunta. </a:t>
            </a:r>
          </a:p>
          <a:p>
            <a:pPr algn="l" marL="367031" indent="-183515" lvl="1">
              <a:lnSpc>
                <a:spcPts val="2611"/>
              </a:lnSpc>
              <a:buAutoNum type="arabicPeriod" startAt="1"/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Processamento e Moderação: O controlador extrai a pergunta e repassa à interface do assistente. A IA analisa os dados recuperados do RAG. Caso a resposta não exista no arquivo business_rules.txt (ex: perguntas sobre clima, esportes ou outras marcas), o assistente bloqueia a resposta e retorna de forma segura: </a:t>
            </a:r>
          </a:p>
          <a:p>
            <a:pPr algn="l" marL="367031" indent="-183515" lvl="1">
              <a:lnSpc>
                <a:spcPts val="2611"/>
              </a:lnSpc>
              <a:buAutoNum type="arabicPeriod" startAt="1"/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assistente bloqueia a resposta padrão e retorna de forma segura.</a:t>
            </a:r>
          </a:p>
          <a:p>
            <a:pPr algn="l">
              <a:lnSpc>
                <a:spcPts val="2611"/>
              </a:lnSpc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595" t="-34942" r="-37877" b="-98082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6913028" y="1629144"/>
            <a:ext cx="617566" cy="617566"/>
            <a:chOff x="0" y="0"/>
            <a:chExt cx="533400" cy="5334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85" r="0" b="-1785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85594" y="1828703"/>
            <a:ext cx="17366830" cy="47625"/>
            <a:chOff x="0" y="0"/>
            <a:chExt cx="6731051" cy="184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31000" cy="18459"/>
            </a:xfrm>
            <a:custGeom>
              <a:avLst/>
              <a:gdLst/>
              <a:ahLst/>
              <a:cxnLst/>
              <a:rect r="r" b="b" t="t" l="l"/>
              <a:pathLst>
                <a:path h="18459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18459"/>
                  </a:lnTo>
                  <a:lnTo>
                    <a:pt x="0" y="18459"/>
                  </a:lnTo>
                  <a:close/>
                </a:path>
              </a:pathLst>
            </a:custGeom>
            <a:solidFill>
              <a:srgbClr val="0066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42719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595" t="-34942" r="-37877" b="-98082"/>
            </a:stretch>
          </a:blipFill>
        </p:spPr>
      </p:sp>
      <p:pic>
        <p:nvPicPr>
          <p:cNvPr name="Picture 7" id="7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1119" t="666" r="0" b="907"/>
          <a:stretch>
            <a:fillRect/>
          </a:stretch>
        </p:blipFill>
        <p:spPr>
          <a:xfrm flipH="false" flipV="false" rot="0">
            <a:off x="2032377" y="2858496"/>
            <a:ext cx="14779248" cy="7014781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85594" y="732234"/>
            <a:ext cx="17145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900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Assistente Virtual  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5594" y="2153646"/>
            <a:ext cx="502711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Evidências do Assistente Virtual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838200"/>
            <a:ext cx="17145000" cy="89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900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API REST: Pronta para Integração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1884759"/>
            <a:ext cx="17145000" cy="40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Endpoints Padronizados e Documentação Interativa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43000" y="3146822"/>
            <a:ext cx="9258300" cy="4118372"/>
            <a:chOff x="0" y="0"/>
            <a:chExt cx="12344400" cy="54911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44400" cy="5491226"/>
            </a:xfrm>
            <a:custGeom>
              <a:avLst/>
              <a:gdLst/>
              <a:ahLst/>
              <a:cxnLst/>
              <a:rect r="r" b="b" t="t" l="l"/>
              <a:pathLst>
                <a:path h="5491226" w="12344400">
                  <a:moveTo>
                    <a:pt x="0" y="0"/>
                  </a:moveTo>
                  <a:lnTo>
                    <a:pt x="12344400" y="0"/>
                  </a:lnTo>
                  <a:lnTo>
                    <a:pt x="12344400" y="5491226"/>
                  </a:lnTo>
                  <a:lnTo>
                    <a:pt x="0" y="549122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3146822"/>
            <a:ext cx="4507373" cy="771525"/>
            <a:chOff x="0" y="0"/>
            <a:chExt cx="6009830" cy="1028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09829" cy="1028701"/>
            </a:xfrm>
            <a:custGeom>
              <a:avLst/>
              <a:gdLst/>
              <a:ahLst/>
              <a:cxnLst/>
              <a:rect r="r" b="b" t="t" l="l"/>
              <a:pathLst>
                <a:path h="1028701" w="6009829">
                  <a:moveTo>
                    <a:pt x="0" y="0"/>
                  </a:moveTo>
                  <a:lnTo>
                    <a:pt x="6009829" y="0"/>
                  </a:lnTo>
                  <a:lnTo>
                    <a:pt x="6009829" y="1028701"/>
                  </a:lnTo>
                  <a:lnTo>
                    <a:pt x="0" y="10287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834" r="0" b="-6383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009830" cy="1047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66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Método &amp; Endpoint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650373" y="3146822"/>
            <a:ext cx="4750927" cy="771525"/>
            <a:chOff x="0" y="0"/>
            <a:chExt cx="6334570" cy="1028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34571" cy="1028701"/>
            </a:xfrm>
            <a:custGeom>
              <a:avLst/>
              <a:gdLst/>
              <a:ahLst/>
              <a:cxnLst/>
              <a:rect r="r" b="b" t="t" l="l"/>
              <a:pathLst>
                <a:path h="1028701" w="6334571">
                  <a:moveTo>
                    <a:pt x="0" y="0"/>
                  </a:moveTo>
                  <a:lnTo>
                    <a:pt x="6334571" y="0"/>
                  </a:lnTo>
                  <a:lnTo>
                    <a:pt x="6334571" y="1028701"/>
                  </a:lnTo>
                  <a:lnTo>
                    <a:pt x="0" y="10287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985" r="0" b="-6998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334570" cy="1047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66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Descrição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57312" y="4075509"/>
            <a:ext cx="777278" cy="367903"/>
            <a:chOff x="0" y="0"/>
            <a:chExt cx="1036371" cy="4905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6320" cy="490601"/>
            </a:xfrm>
            <a:custGeom>
              <a:avLst/>
              <a:gdLst/>
              <a:ahLst/>
              <a:cxnLst/>
              <a:rect r="r" b="b" t="t" l="l"/>
              <a:pathLst>
                <a:path h="490601" w="1036320">
                  <a:moveTo>
                    <a:pt x="0" y="0"/>
                  </a:moveTo>
                  <a:lnTo>
                    <a:pt x="1036320" y="0"/>
                  </a:lnTo>
                  <a:lnTo>
                    <a:pt x="1036320" y="490601"/>
                  </a:lnTo>
                  <a:lnTo>
                    <a:pt x="0" y="490601"/>
                  </a:lnTo>
                  <a:close/>
                </a:path>
              </a:pathLst>
            </a:custGeom>
            <a:solidFill>
              <a:srgbClr val="0066FF">
                <a:alpha val="3922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25388" y="4073481"/>
            <a:ext cx="641128" cy="35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0066FF"/>
                </a:solidFill>
                <a:latin typeface="Arimo Bold"/>
                <a:ea typeface="Arimo Bold"/>
                <a:cs typeface="Arimo Bold"/>
                <a:sym typeface="Arimo Bold"/>
              </a:rPr>
              <a:t>POST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77456" y="4125516"/>
            <a:ext cx="1393031" cy="27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/api/clientes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650373" y="3918347"/>
            <a:ext cx="4750927" cy="675084"/>
            <a:chOff x="0" y="0"/>
            <a:chExt cx="6334570" cy="9001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34571" cy="900112"/>
            </a:xfrm>
            <a:custGeom>
              <a:avLst/>
              <a:gdLst/>
              <a:ahLst/>
              <a:cxnLst/>
              <a:rect r="r" b="b" t="t" l="l"/>
              <a:pathLst>
                <a:path h="900112" w="6334571">
                  <a:moveTo>
                    <a:pt x="0" y="0"/>
                  </a:moveTo>
                  <a:lnTo>
                    <a:pt x="6334571" y="0"/>
                  </a:lnTo>
                  <a:lnTo>
                    <a:pt x="6334571" y="900112"/>
                  </a:lnTo>
                  <a:lnTo>
                    <a:pt x="0" y="9001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7126" r="0" b="-8712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6334570" cy="900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Onboarding de novos usuários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57312" y="4743450"/>
            <a:ext cx="777278" cy="367903"/>
            <a:chOff x="0" y="0"/>
            <a:chExt cx="1036371" cy="4905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6320" cy="490601"/>
            </a:xfrm>
            <a:custGeom>
              <a:avLst/>
              <a:gdLst/>
              <a:ahLst/>
              <a:cxnLst/>
              <a:rect r="r" b="b" t="t" l="l"/>
              <a:pathLst>
                <a:path h="490601" w="1036320">
                  <a:moveTo>
                    <a:pt x="0" y="0"/>
                  </a:moveTo>
                  <a:lnTo>
                    <a:pt x="1036320" y="0"/>
                  </a:lnTo>
                  <a:lnTo>
                    <a:pt x="1036320" y="490601"/>
                  </a:lnTo>
                  <a:lnTo>
                    <a:pt x="0" y="490601"/>
                  </a:lnTo>
                  <a:close/>
                </a:path>
              </a:pathLst>
            </a:custGeom>
            <a:solidFill>
              <a:srgbClr val="0066FF">
                <a:alpha val="3922"/>
              </a:srgbClr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25388" y="4741421"/>
            <a:ext cx="641128" cy="35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0066FF"/>
                </a:solidFill>
                <a:latin typeface="Arimo Bold"/>
                <a:ea typeface="Arimo Bold"/>
                <a:cs typeface="Arimo Bold"/>
                <a:sym typeface="Arimo Bold"/>
              </a:rPr>
              <a:t>POST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77456" y="4793456"/>
            <a:ext cx="1418034" cy="27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/api/pedidos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650373" y="4593431"/>
            <a:ext cx="4750927" cy="667941"/>
            <a:chOff x="0" y="0"/>
            <a:chExt cx="6334570" cy="8905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34571" cy="890587"/>
            </a:xfrm>
            <a:custGeom>
              <a:avLst/>
              <a:gdLst/>
              <a:ahLst/>
              <a:cxnLst/>
              <a:rect r="r" b="b" t="t" l="l"/>
              <a:pathLst>
                <a:path h="890587" w="6334571">
                  <a:moveTo>
                    <a:pt x="0" y="0"/>
                  </a:moveTo>
                  <a:lnTo>
                    <a:pt x="6334571" y="0"/>
                  </a:lnTo>
                  <a:lnTo>
                    <a:pt x="6334571" y="890587"/>
                  </a:lnTo>
                  <a:lnTo>
                    <a:pt x="0" y="8905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593" r="0" b="-8859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334570" cy="890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Criação de ordens de compra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57312" y="5411391"/>
            <a:ext cx="640090" cy="367903"/>
            <a:chOff x="0" y="0"/>
            <a:chExt cx="853453" cy="4905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53440" cy="490601"/>
            </a:xfrm>
            <a:custGeom>
              <a:avLst/>
              <a:gdLst/>
              <a:ahLst/>
              <a:cxnLst/>
              <a:rect r="r" b="b" t="t" l="l"/>
              <a:pathLst>
                <a:path h="490601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490601"/>
                  </a:lnTo>
                  <a:lnTo>
                    <a:pt x="0" y="490601"/>
                  </a:lnTo>
                  <a:close/>
                </a:path>
              </a:pathLst>
            </a:custGeom>
            <a:solidFill>
              <a:srgbClr val="0066FF">
                <a:alpha val="3922"/>
              </a:srgbClr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425388" y="5409362"/>
            <a:ext cx="503949" cy="35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0066FF"/>
                </a:solidFill>
                <a:latin typeface="Arimo Bold"/>
                <a:ea typeface="Arimo Bold"/>
                <a:cs typeface="Arimo Bold"/>
                <a:sym typeface="Arimo Bold"/>
              </a:rPr>
              <a:t>GET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140277" y="5461397"/>
            <a:ext cx="1514475" cy="27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/api/produtos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650373" y="5261372"/>
            <a:ext cx="4750927" cy="667941"/>
            <a:chOff x="0" y="0"/>
            <a:chExt cx="6334570" cy="8905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34571" cy="890587"/>
            </a:xfrm>
            <a:custGeom>
              <a:avLst/>
              <a:gdLst/>
              <a:ahLst/>
              <a:cxnLst/>
              <a:rect r="r" b="b" t="t" l="l"/>
              <a:pathLst>
                <a:path h="890587" w="6334571">
                  <a:moveTo>
                    <a:pt x="0" y="0"/>
                  </a:moveTo>
                  <a:lnTo>
                    <a:pt x="6334571" y="0"/>
                  </a:lnTo>
                  <a:lnTo>
                    <a:pt x="6334571" y="890587"/>
                  </a:lnTo>
                  <a:lnTo>
                    <a:pt x="0" y="8905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593" r="0" b="-8859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6334570" cy="890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Listagem de catálogo ativo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57312" y="6079331"/>
            <a:ext cx="777278" cy="367903"/>
            <a:chOff x="0" y="0"/>
            <a:chExt cx="1036371" cy="49053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36320" cy="490601"/>
            </a:xfrm>
            <a:custGeom>
              <a:avLst/>
              <a:gdLst/>
              <a:ahLst/>
              <a:cxnLst/>
              <a:rect r="r" b="b" t="t" l="l"/>
              <a:pathLst>
                <a:path h="490601" w="1036320">
                  <a:moveTo>
                    <a:pt x="0" y="0"/>
                  </a:moveTo>
                  <a:lnTo>
                    <a:pt x="1036320" y="0"/>
                  </a:lnTo>
                  <a:lnTo>
                    <a:pt x="1036320" y="490601"/>
                  </a:lnTo>
                  <a:lnTo>
                    <a:pt x="0" y="490601"/>
                  </a:lnTo>
                  <a:close/>
                </a:path>
              </a:pathLst>
            </a:custGeom>
            <a:solidFill>
              <a:srgbClr val="0066FF">
                <a:alpha val="3922"/>
              </a:srgbClr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425388" y="6077302"/>
            <a:ext cx="641128" cy="35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0066FF"/>
                </a:solidFill>
                <a:latin typeface="Arimo Bold"/>
                <a:ea typeface="Arimo Bold"/>
                <a:cs typeface="Arimo Bold"/>
                <a:sym typeface="Arimo Bold"/>
              </a:rPr>
              <a:t>POST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77456" y="6129338"/>
            <a:ext cx="2578894" cy="27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/api/cashback/resgatar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5650373" y="5929312"/>
            <a:ext cx="4750927" cy="667941"/>
            <a:chOff x="0" y="0"/>
            <a:chExt cx="6334570" cy="8905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34571" cy="890587"/>
            </a:xfrm>
            <a:custGeom>
              <a:avLst/>
              <a:gdLst/>
              <a:ahLst/>
              <a:cxnLst/>
              <a:rect r="r" b="b" t="t" l="l"/>
              <a:pathLst>
                <a:path h="890587" w="6334571">
                  <a:moveTo>
                    <a:pt x="0" y="0"/>
                  </a:moveTo>
                  <a:lnTo>
                    <a:pt x="6334571" y="0"/>
                  </a:lnTo>
                  <a:lnTo>
                    <a:pt x="6334571" y="890587"/>
                  </a:lnTo>
                  <a:lnTo>
                    <a:pt x="0" y="8905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593" r="0" b="-8859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6334570" cy="890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Conversão de pontos em saldo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7312" y="6747272"/>
            <a:ext cx="640090" cy="367903"/>
            <a:chOff x="0" y="0"/>
            <a:chExt cx="853453" cy="4905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53440" cy="490601"/>
            </a:xfrm>
            <a:custGeom>
              <a:avLst/>
              <a:gdLst/>
              <a:ahLst/>
              <a:cxnLst/>
              <a:rect r="r" b="b" t="t" l="l"/>
              <a:pathLst>
                <a:path h="490601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490601"/>
                  </a:lnTo>
                  <a:lnTo>
                    <a:pt x="0" y="490601"/>
                  </a:lnTo>
                  <a:close/>
                </a:path>
              </a:pathLst>
            </a:custGeom>
            <a:solidFill>
              <a:srgbClr val="0066FF">
                <a:alpha val="3922"/>
              </a:srgbClr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425388" y="6745243"/>
            <a:ext cx="503949" cy="35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0066FF"/>
                </a:solidFill>
                <a:latin typeface="Arimo Bold"/>
                <a:ea typeface="Arimo Bold"/>
                <a:cs typeface="Arimo Bold"/>
                <a:sym typeface="Arimo Bold"/>
              </a:rPr>
              <a:t>GET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140277" y="6797278"/>
            <a:ext cx="2418159" cy="27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/api/contas/{id}/saldo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5650373" y="6597253"/>
            <a:ext cx="4750927" cy="667941"/>
            <a:chOff x="0" y="0"/>
            <a:chExt cx="6334570" cy="8905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34571" cy="890587"/>
            </a:xfrm>
            <a:custGeom>
              <a:avLst/>
              <a:gdLst/>
              <a:ahLst/>
              <a:cxnLst/>
              <a:rect r="r" b="b" t="t" l="l"/>
              <a:pathLst>
                <a:path h="890587" w="6334571">
                  <a:moveTo>
                    <a:pt x="0" y="0"/>
                  </a:moveTo>
                  <a:lnTo>
                    <a:pt x="6334571" y="0"/>
                  </a:lnTo>
                  <a:lnTo>
                    <a:pt x="6334571" y="890587"/>
                  </a:lnTo>
                  <a:lnTo>
                    <a:pt x="0" y="8905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593" r="0" b="-8859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6334570" cy="890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Consulta financeira em tempo real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972800" y="3146822"/>
            <a:ext cx="6172200" cy="5634857"/>
            <a:chOff x="0" y="0"/>
            <a:chExt cx="8229600" cy="751314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229600" cy="7513193"/>
            </a:xfrm>
            <a:custGeom>
              <a:avLst/>
              <a:gdLst/>
              <a:ahLst/>
              <a:cxnLst/>
              <a:rect r="r" b="b" t="t" l="l"/>
              <a:pathLst>
                <a:path h="7513193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513193"/>
                  </a:lnTo>
                  <a:lnTo>
                    <a:pt x="0" y="7513193"/>
                  </a:lnTo>
                  <a:close/>
                </a:path>
              </a:pathLst>
            </a:custGeom>
            <a:solidFill>
              <a:srgbClr val="9D50BB">
                <a:alpha val="0"/>
              </a:srgbClr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972800" y="3146822"/>
            <a:ext cx="6172200" cy="57150"/>
            <a:chOff x="0" y="0"/>
            <a:chExt cx="8229600" cy="76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229600" cy="76200"/>
            </a:xfrm>
            <a:custGeom>
              <a:avLst/>
              <a:gdLst/>
              <a:ahLst/>
              <a:cxnLst/>
              <a:rect r="r" b="b" t="t" l="l"/>
              <a:pathLst>
                <a:path h="762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50B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544550" y="3661172"/>
            <a:ext cx="1028700" cy="914400"/>
            <a:chOff x="0" y="0"/>
            <a:chExt cx="1371600" cy="1219200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1371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81" r="0" b="-781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3137356" y="5301853"/>
            <a:ext cx="1843088" cy="44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Swagger UI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401425" y="6132909"/>
            <a:ext cx="5314950" cy="1520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1"/>
              </a:lnSpc>
            </a:pPr>
            <a:r>
              <a:rPr lang="en-US" sz="1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Documentação OpenAPI 3.0 gerada automaticamente, permitindo testes de endpoints e visualização de esquemas DTO sem necessidade de ferramentas externas.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2812982" y="8167316"/>
            <a:ext cx="2491778" cy="557212"/>
            <a:chOff x="0" y="0"/>
            <a:chExt cx="3322371" cy="7429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322320" cy="742950"/>
            </a:xfrm>
            <a:custGeom>
              <a:avLst/>
              <a:gdLst/>
              <a:ahLst/>
              <a:cxnLst/>
              <a:rect r="r" b="b" t="t" l="l"/>
              <a:pathLst>
                <a:path h="742950" w="3322320">
                  <a:moveTo>
                    <a:pt x="0" y="0"/>
                  </a:moveTo>
                  <a:lnTo>
                    <a:pt x="3322320" y="0"/>
                  </a:lnTo>
                  <a:lnTo>
                    <a:pt x="3322320" y="742950"/>
                  </a:lnTo>
                  <a:lnTo>
                    <a:pt x="0" y="742950"/>
                  </a:lnTo>
                  <a:close/>
                </a:path>
              </a:pathLst>
            </a:custGeom>
            <a:solidFill>
              <a:srgbClr val="1A202C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2983042" y="8233353"/>
            <a:ext cx="2151669" cy="406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/swagger-ui.html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5595" t="-34942" r="-37877" b="-98082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838200"/>
            <a:ext cx="17145000" cy="89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900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Cobertura de Testes (Jacoco)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1884759"/>
            <a:ext cx="17145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Sistema coberto com 80% em testes automatizados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43000" y="2868430"/>
            <a:ext cx="16445248" cy="5561585"/>
            <a:chOff x="0" y="0"/>
            <a:chExt cx="5306316" cy="17945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06316" cy="1794532"/>
            </a:xfrm>
            <a:custGeom>
              <a:avLst/>
              <a:gdLst/>
              <a:ahLst/>
              <a:cxnLst/>
              <a:rect r="r" b="b" t="t" l="l"/>
              <a:pathLst>
                <a:path h="1794532" w="5306316">
                  <a:moveTo>
                    <a:pt x="0" y="0"/>
                  </a:moveTo>
                  <a:lnTo>
                    <a:pt x="5306316" y="0"/>
                  </a:lnTo>
                  <a:lnTo>
                    <a:pt x="5306316" y="1794532"/>
                  </a:lnTo>
                  <a:lnTo>
                    <a:pt x="0" y="1794532"/>
                  </a:lnTo>
                  <a:close/>
                </a:path>
              </a:pathLst>
            </a:custGeom>
            <a:blipFill>
              <a:blip r:embed="rId4"/>
              <a:stretch>
                <a:fillRect l="0" t="-1074" r="0" b="-1074"/>
              </a:stretch>
            </a:blipFill>
            <a:ln w="54864" cap="sq">
              <a:solidFill>
                <a:srgbClr val="0066FF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595" t="-34942" r="-37877" b="-98082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287750" y="571500"/>
            <a:ext cx="1428750" cy="1428750"/>
            <a:chOff x="0" y="0"/>
            <a:chExt cx="1905000" cy="1905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1114425"/>
            <a:ext cx="17145000" cy="104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Conclusão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3589734"/>
            <a:ext cx="571500" cy="571500"/>
            <a:chOff x="0" y="0"/>
            <a:chExt cx="762000" cy="7620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50" r="0" b="-125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43000" y="4899422"/>
            <a:ext cx="4952962" cy="52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Unificação Total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5619750"/>
            <a:ext cx="4952962" cy="130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Integração perfeita entre banco digital e marketplace, eliminando a fricção para o usuário final.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67462" y="3589734"/>
            <a:ext cx="571500" cy="571500"/>
            <a:chOff x="0" y="0"/>
            <a:chExt cx="762000" cy="7620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667462" y="4899422"/>
            <a:ext cx="4953019" cy="52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Fidelização Real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462" y="5619750"/>
            <a:ext cx="4953019" cy="130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O programa de cashback inteligente transforma transações em experiências de recompensa contínua.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91981" y="3589734"/>
            <a:ext cx="571500" cy="571500"/>
            <a:chOff x="0" y="0"/>
            <a:chExt cx="762000" cy="7620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191981" y="4899422"/>
            <a:ext cx="4952962" cy="52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Base Sólida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91981" y="5619750"/>
            <a:ext cx="4952962" cy="130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Arquitetura moderna e segura, pronta para escalar e suportar o crescimento do ecossistema.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8641556"/>
            <a:ext cx="18288000" cy="44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spc="2">
                <a:solidFill>
                  <a:srgbClr val="E2E8F0"/>
                </a:solidFill>
                <a:latin typeface="Arimo Bold"/>
                <a:ea typeface="Arimo Bold"/>
                <a:cs typeface="Arimo Bold"/>
                <a:sym typeface="Arimo Bold"/>
              </a:rPr>
              <a:t>NextPay: O Próximo Passo do Comércio Digital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597261" y="8643323"/>
            <a:ext cx="1652187" cy="1229955"/>
          </a:xfrm>
          <a:custGeom>
            <a:avLst/>
            <a:gdLst/>
            <a:ahLst/>
            <a:cxnLst/>
            <a:rect r="r" b="b" t="t" l="l"/>
            <a:pathLst>
              <a:path h="1229955" w="1652187">
                <a:moveTo>
                  <a:pt x="0" y="0"/>
                </a:moveTo>
                <a:lnTo>
                  <a:pt x="1652186" y="0"/>
                </a:lnTo>
                <a:lnTo>
                  <a:pt x="1652186" y="1229954"/>
                </a:lnTo>
                <a:lnTo>
                  <a:pt x="0" y="12299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5595" t="-34942" r="-37877" b="-98082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807869" y="3572"/>
            <a:ext cx="6672262" cy="6672262"/>
            <a:chOff x="0" y="0"/>
            <a:chExt cx="8896350" cy="889635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896350" cy="8896350"/>
            </a:xfrm>
            <a:custGeom>
              <a:avLst/>
              <a:gdLst/>
              <a:ahLst/>
              <a:cxnLst/>
              <a:rect r="r" b="b" t="t" l="l"/>
              <a:pathLst>
                <a:path h="8896350" w="8896350">
                  <a:moveTo>
                    <a:pt x="0" y="0"/>
                  </a:moveTo>
                  <a:lnTo>
                    <a:pt x="8896350" y="0"/>
                  </a:lnTo>
                  <a:lnTo>
                    <a:pt x="8896350" y="8896350"/>
                  </a:lnTo>
                  <a:lnTo>
                    <a:pt x="0" y="8896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984806" y="7209234"/>
            <a:ext cx="4318397" cy="120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9D50BB"/>
                </a:solidFill>
                <a:latin typeface="Arimo Bold"/>
                <a:ea typeface="Arimo Bold"/>
                <a:cs typeface="Arimo Bold"/>
                <a:sym typeface="Arimo Bold"/>
              </a:rPr>
              <a:t>Obrigado!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06000" y="8710613"/>
            <a:ext cx="8076009" cy="40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Vamos construir o futuro dos pagamentos juntos?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388769" y="9999459"/>
            <a:ext cx="257175" cy="257175"/>
            <a:chOff x="0" y="0"/>
            <a:chExt cx="342900" cy="3429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807869" y="9972675"/>
            <a:ext cx="341069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19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etxpayaccenture@gmail.com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074846" y="9999459"/>
            <a:ext cx="321469" cy="257175"/>
            <a:chOff x="0" y="0"/>
            <a:chExt cx="428625" cy="3429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28625" cy="342900"/>
            </a:xfrm>
            <a:custGeom>
              <a:avLst/>
              <a:gdLst/>
              <a:ahLst/>
              <a:cxnLst/>
              <a:rect r="r" b="b" t="t" l="l"/>
              <a:pathLst>
                <a:path h="342900" w="428625">
                  <a:moveTo>
                    <a:pt x="0" y="0"/>
                  </a:moveTo>
                  <a:lnTo>
                    <a:pt x="428625" y="0"/>
                  </a:lnTo>
                  <a:lnTo>
                    <a:pt x="428625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88" r="0" b="-138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577512" y="9972675"/>
            <a:ext cx="2064544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/swagger-ui.html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DAHJkGTrpkk</dc:identifier>
  <dcterms:modified xsi:type="dcterms:W3CDTF">2011-08-01T06:04:30Z</dcterms:modified>
  <cp:revision>1</cp:revision>
  <dc:title>Projeto-accenture</dc:title>
</cp:coreProperties>
</file>